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embeddedFontLst>
    <p:embeddedFont>
      <p:font typeface="Noto Serif" panose="02020600060500020200"/>
      <p:regular r:id="rId13"/>
    </p:embeddedFont>
    <p:embeddedFont>
      <p:font typeface="Noto Serif Bold" panose="02020502060505020204" pitchFamily="18" charset="0"/>
      <p:regular r:id="rId14"/>
      <p:bold r:id="rId15"/>
    </p:embeddedFont>
    <p:embeddedFont>
      <p:font typeface="Noto Serif Medium" panose="02020502060505020204" pitchFamily="18" charset="0"/>
      <p:regular r:id="rId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7"/>
    <p:restoredTop sz="94610"/>
  </p:normalViewPr>
  <p:slideViewPr>
    <p:cSldViewPr snapToGrid="0" snapToObjects="1">
      <p:cViewPr varScale="1">
        <p:scale>
          <a:sx n="122" d="100"/>
          <a:sy n="122" d="100"/>
        </p:scale>
        <p:origin x="224" y="3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596833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6DED2"/>
          </a:solidFill>
          <a:ln/>
        </p:spPr>
      </p:sp>
      <p:sp>
        <p:nvSpPr>
          <p:cNvPr id="3" name="Shape 1"/>
          <p:cNvSpPr/>
          <p:nvPr/>
        </p:nvSpPr>
        <p:spPr>
          <a:xfrm>
            <a:off x="0" y="0"/>
            <a:ext cx="12191695" cy="6858000"/>
          </a:xfrm>
          <a:prstGeom prst="rect">
            <a:avLst/>
          </a:prstGeom>
          <a:solidFill>
            <a:srgbClr val="FDFBF7"/>
          </a:solidFill>
          <a:ln/>
        </p:spPr>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6.svg"/><Relationship Id="rId4" Type="http://schemas.openxmlformats.org/officeDocument/2006/relationships/image" Target="../media/image5.sv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61475" y="485378"/>
            <a:ext cx="10868745" cy="613569"/>
          </a:xfrm>
          <a:prstGeom prst="rect">
            <a:avLst/>
          </a:prstGeom>
          <a:noFill/>
          <a:ln/>
        </p:spPr>
        <p:txBody>
          <a:bodyPr wrap="square" lIns="0" tIns="0" rIns="0" bIns="0" rtlCol="0" anchor="t">
            <a:normAutofit/>
          </a:bodyPr>
          <a:lstStyle/>
          <a:p>
            <a:pPr marL="0" indent="0" algn="ctr">
              <a:lnSpc>
                <a:spcPct val="104000"/>
              </a:lnSpc>
              <a:buNone/>
            </a:pPr>
            <a:r>
              <a:rPr lang="en-US" sz="1900" kern="0" spc="-39" dirty="0">
                <a:solidFill>
                  <a:srgbClr val="3A3A3A"/>
                </a:solidFill>
                <a:latin typeface="Noto Serif Medium" pitchFamily="34" charset="0"/>
                <a:ea typeface="Noto Serif Medium" pitchFamily="34" charset="-122"/>
                <a:cs typeface="Noto Serif Medium" pitchFamily="34" charset="-120"/>
              </a:rPr>
              <a:t>Anomaly Detection System for IoT Sensor Networks Using Machine Learning and Real-Time Data Monitoring</a:t>
            </a:r>
            <a:endParaRPr lang="en-US" sz="1900" dirty="0"/>
          </a:p>
        </p:txBody>
      </p:sp>
      <p:sp>
        <p:nvSpPr>
          <p:cNvPr id="3" name="Text 1"/>
          <p:cNvSpPr/>
          <p:nvPr/>
        </p:nvSpPr>
        <p:spPr>
          <a:xfrm>
            <a:off x="356682" y="1215529"/>
            <a:ext cx="11478330" cy="125214"/>
          </a:xfrm>
          <a:prstGeom prst="rect">
            <a:avLst/>
          </a:prstGeom>
          <a:noFill/>
          <a:ln/>
        </p:spPr>
        <p:txBody>
          <a:bodyPr wrap="none" lIns="0" tIns="0" rIns="0" bIns="0" rtlCol="0" anchor="t"/>
          <a:lstStyle/>
          <a:p>
            <a:pPr marL="0" indent="0" algn="ctr">
              <a:lnSpc>
                <a:spcPct val="106000"/>
              </a:lnSpc>
              <a:buNone/>
            </a:pPr>
            <a:r>
              <a:rPr lang="en-US" sz="750" dirty="0">
                <a:solidFill>
                  <a:srgbClr val="4C4C4C"/>
                </a:solidFill>
                <a:latin typeface="Noto Serif" pitchFamily="34" charset="0"/>
                <a:ea typeface="Noto Serif" pitchFamily="34" charset="-122"/>
                <a:cs typeface="Noto Serif" pitchFamily="34" charset="-120"/>
              </a:rPr>
              <a:t>An intelligent approach to automatically identify abnormal IoT sensor behavior and support proactive monitoring and maintenance</a:t>
            </a:r>
            <a:endParaRPr lang="en-US" sz="750" dirty="0"/>
          </a:p>
        </p:txBody>
      </p:sp>
      <p:pic>
        <p:nvPicPr>
          <p:cNvPr id="4" name="Image 0" descr="preencoded.png"/>
          <p:cNvPicPr>
            <a:picLocks noChangeAspect="1"/>
          </p:cNvPicPr>
          <p:nvPr/>
        </p:nvPicPr>
        <p:blipFill>
          <a:blip r:embed="rId3"/>
          <a:stretch>
            <a:fillRect/>
          </a:stretch>
        </p:blipFill>
        <p:spPr>
          <a:xfrm>
            <a:off x="1869830" y="1406327"/>
            <a:ext cx="8452035" cy="3868341"/>
          </a:xfrm>
          <a:prstGeom prst="rect">
            <a:avLst/>
          </a:prstGeom>
        </p:spPr>
      </p:pic>
      <p:sp>
        <p:nvSpPr>
          <p:cNvPr id="5" name="Text 2"/>
          <p:cNvSpPr/>
          <p:nvPr/>
        </p:nvSpPr>
        <p:spPr>
          <a:xfrm>
            <a:off x="8341606" y="4203214"/>
            <a:ext cx="1586817" cy="611375"/>
          </a:xfrm>
          <a:prstGeom prst="rect">
            <a:avLst/>
          </a:prstGeom>
          <a:noFill/>
          <a:ln/>
        </p:spPr>
        <p:txBody>
          <a:bodyPr wrap="square" lIns="0" tIns="0" rIns="0" bIns="0" rtlCol="0" anchor="t">
            <a:normAutofit/>
          </a:bodyPr>
          <a:lstStyle/>
          <a:p>
            <a:pPr marL="0" indent="0" algn="ctr">
              <a:lnSpc>
                <a:spcPct val="104000"/>
              </a:lnSpc>
              <a:buNone/>
            </a:pPr>
            <a:r>
              <a:rPr lang="en-US" sz="1900" kern="0" spc="-39" dirty="0">
                <a:solidFill>
                  <a:srgbClr val="4C4C4C"/>
                </a:solidFill>
                <a:latin typeface="Noto Serif Medium" pitchFamily="34" charset="0"/>
                <a:ea typeface="Noto Serif Medium" pitchFamily="34" charset="-122"/>
                <a:cs typeface="Noto Serif Medium" pitchFamily="34" charset="-120"/>
              </a:rPr>
              <a:t>Anomaly Alerts</a:t>
            </a:r>
            <a:endParaRPr lang="en-US" sz="1900" dirty="0"/>
          </a:p>
        </p:txBody>
      </p:sp>
      <p:sp>
        <p:nvSpPr>
          <p:cNvPr id="6" name="Text 3"/>
          <p:cNvSpPr/>
          <p:nvPr/>
        </p:nvSpPr>
        <p:spPr>
          <a:xfrm>
            <a:off x="6341783" y="4356058"/>
            <a:ext cx="1586817" cy="305687"/>
          </a:xfrm>
          <a:prstGeom prst="rect">
            <a:avLst/>
          </a:prstGeom>
          <a:noFill/>
          <a:ln/>
        </p:spPr>
        <p:txBody>
          <a:bodyPr wrap="none" lIns="0" tIns="0" rIns="0" bIns="0" rtlCol="0" anchor="t"/>
          <a:lstStyle/>
          <a:p>
            <a:pPr marL="0" indent="0" algn="ctr">
              <a:lnSpc>
                <a:spcPct val="104000"/>
              </a:lnSpc>
              <a:buNone/>
            </a:pPr>
            <a:r>
              <a:rPr lang="en-US" sz="1900" kern="0" spc="-39" dirty="0">
                <a:solidFill>
                  <a:srgbClr val="4C4C4C"/>
                </a:solidFill>
                <a:latin typeface="Noto Serif Medium" pitchFamily="34" charset="0"/>
                <a:ea typeface="Noto Serif Medium" pitchFamily="34" charset="-122"/>
                <a:cs typeface="Noto Serif Medium" pitchFamily="34" charset="-120"/>
              </a:rPr>
              <a:t>ML Detection</a:t>
            </a:r>
            <a:endParaRPr lang="en-US" sz="1900" dirty="0"/>
          </a:p>
        </p:txBody>
      </p:sp>
      <p:sp>
        <p:nvSpPr>
          <p:cNvPr id="7" name="Text 4"/>
          <p:cNvSpPr/>
          <p:nvPr/>
        </p:nvSpPr>
        <p:spPr>
          <a:xfrm>
            <a:off x="4352827" y="4203214"/>
            <a:ext cx="1586817" cy="611375"/>
          </a:xfrm>
          <a:prstGeom prst="rect">
            <a:avLst/>
          </a:prstGeom>
          <a:noFill/>
          <a:ln/>
        </p:spPr>
        <p:txBody>
          <a:bodyPr wrap="square" lIns="0" tIns="0" rIns="0" bIns="0" rtlCol="0" anchor="t">
            <a:normAutofit/>
          </a:bodyPr>
          <a:lstStyle/>
          <a:p>
            <a:pPr marL="0" indent="0" algn="ctr">
              <a:lnSpc>
                <a:spcPct val="104000"/>
              </a:lnSpc>
              <a:buNone/>
            </a:pPr>
            <a:r>
              <a:rPr lang="en-US" sz="1900" kern="0" spc="-39" dirty="0">
                <a:solidFill>
                  <a:srgbClr val="4C4C4C"/>
                </a:solidFill>
                <a:latin typeface="Noto Serif Medium" pitchFamily="34" charset="0"/>
                <a:ea typeface="Noto Serif Medium" pitchFamily="34" charset="-122"/>
                <a:cs typeface="Noto Serif Medium" pitchFamily="34" charset="-120"/>
              </a:rPr>
              <a:t>Real-Time Collection</a:t>
            </a:r>
            <a:endParaRPr lang="en-US" sz="1900" dirty="0"/>
          </a:p>
        </p:txBody>
      </p:sp>
      <p:sp>
        <p:nvSpPr>
          <p:cNvPr id="8" name="Text 5"/>
          <p:cNvSpPr/>
          <p:nvPr/>
        </p:nvSpPr>
        <p:spPr>
          <a:xfrm>
            <a:off x="2320397" y="4356058"/>
            <a:ext cx="1586817" cy="305687"/>
          </a:xfrm>
          <a:prstGeom prst="rect">
            <a:avLst/>
          </a:prstGeom>
          <a:noFill/>
          <a:ln/>
        </p:spPr>
        <p:txBody>
          <a:bodyPr wrap="none" lIns="0" tIns="0" rIns="0" bIns="0" rtlCol="0" anchor="t"/>
          <a:lstStyle/>
          <a:p>
            <a:pPr marL="0" indent="0" algn="ctr">
              <a:lnSpc>
                <a:spcPct val="104000"/>
              </a:lnSpc>
              <a:buNone/>
            </a:pPr>
            <a:r>
              <a:rPr lang="en-US" sz="1900" kern="0" spc="-39" dirty="0">
                <a:solidFill>
                  <a:srgbClr val="4C4C4C"/>
                </a:solidFill>
                <a:latin typeface="Noto Serif Medium" pitchFamily="34" charset="0"/>
                <a:ea typeface="Noto Serif Medium" pitchFamily="34" charset="-122"/>
                <a:cs typeface="Noto Serif Medium" pitchFamily="34" charset="-120"/>
              </a:rPr>
              <a:t>IoT Sensors</a:t>
            </a:r>
            <a:endParaRPr lang="en-US" sz="1900" dirty="0"/>
          </a:p>
        </p:txBody>
      </p:sp>
      <p:sp>
        <p:nvSpPr>
          <p:cNvPr id="9" name="Shape 6"/>
          <p:cNvSpPr/>
          <p:nvPr/>
        </p:nvSpPr>
        <p:spPr>
          <a:xfrm>
            <a:off x="661475" y="5340251"/>
            <a:ext cx="10868745" cy="1032272"/>
          </a:xfrm>
          <a:prstGeom prst="roundRect">
            <a:avLst>
              <a:gd name="adj" fmla="val 3996"/>
            </a:avLst>
          </a:prstGeom>
          <a:solidFill>
            <a:srgbClr val="F2EDE5"/>
          </a:solidFill>
          <a:ln w="6350">
            <a:solidFill>
              <a:srgbClr val="CCC4B8"/>
            </a:solidFill>
            <a:prstDash val="solid"/>
          </a:ln>
          <a:effectLst>
            <a:outerShdw blurRad="127" dist="12700" dir="2700000" algn="bl" rotWithShape="0">
              <a:srgbClr val="CCC4B8">
                <a:alpha val="100000"/>
              </a:srgbClr>
            </a:outerShdw>
          </a:effectLst>
        </p:spPr>
      </p:sp>
      <p:sp>
        <p:nvSpPr>
          <p:cNvPr id="10" name="Shape 7"/>
          <p:cNvSpPr/>
          <p:nvPr/>
        </p:nvSpPr>
        <p:spPr>
          <a:xfrm>
            <a:off x="667825" y="5346601"/>
            <a:ext cx="5428023" cy="509786"/>
          </a:xfrm>
          <a:custGeom>
            <a:avLst/>
            <a:gdLst/>
            <a:ahLst/>
            <a:cxnLst/>
            <a:rect l="l" t="t" r="r" b="b"/>
            <a:pathLst>
              <a:path w="5428023" h="509786">
                <a:moveTo>
                  <a:pt x="34370" y="0"/>
                </a:moveTo>
                <a:lnTo>
                  <a:pt x="5428023" y="0"/>
                </a:lnTo>
                <a:lnTo>
                  <a:pt x="5428023" y="509786"/>
                </a:lnTo>
                <a:lnTo>
                  <a:pt x="0" y="509786"/>
                </a:lnTo>
                <a:lnTo>
                  <a:pt x="0" y="34371"/>
                </a:lnTo>
                <a:arcTo wR="34370" hR="34371" stAng="10800000" swAng="5400000"/>
                <a:close/>
              </a:path>
            </a:pathLst>
          </a:custGeom>
          <a:solidFill>
            <a:srgbClr val="F2EDE5"/>
          </a:solidFill>
          <a:ln/>
        </p:spPr>
      </p:sp>
      <p:sp>
        <p:nvSpPr>
          <p:cNvPr id="11" name="Text 8"/>
          <p:cNvSpPr/>
          <p:nvPr/>
        </p:nvSpPr>
        <p:spPr>
          <a:xfrm>
            <a:off x="765950" y="5444728"/>
            <a:ext cx="5231773" cy="153392"/>
          </a:xfrm>
          <a:prstGeom prst="rect">
            <a:avLst/>
          </a:prstGeom>
          <a:noFill/>
          <a:ln/>
        </p:spPr>
        <p:txBody>
          <a:bodyPr wrap="none" lIns="0" tIns="0" rIns="0" bIns="0" rtlCol="0" anchor="t"/>
          <a:lstStyle/>
          <a:p>
            <a:pPr marL="0" indent="0" algn="l">
              <a:lnSpc>
                <a:spcPct val="104000"/>
              </a:lnSpc>
              <a:buNone/>
            </a:pPr>
            <a:r>
              <a:rPr lang="en-US" sz="950" kern="0" spc="-19" dirty="0">
                <a:solidFill>
                  <a:srgbClr val="4C4C4C"/>
                </a:solidFill>
                <a:latin typeface="Noto Serif Medium" pitchFamily="34" charset="0"/>
                <a:ea typeface="Noto Serif Medium" pitchFamily="34" charset="-122"/>
                <a:cs typeface="Noto Serif Medium" pitchFamily="34" charset="-120"/>
              </a:rPr>
              <a:t>Domain</a:t>
            </a:r>
            <a:endParaRPr lang="en-US" sz="950" dirty="0"/>
          </a:p>
        </p:txBody>
      </p:sp>
      <p:sp>
        <p:nvSpPr>
          <p:cNvPr id="12" name="Text 9"/>
          <p:cNvSpPr/>
          <p:nvPr/>
        </p:nvSpPr>
        <p:spPr>
          <a:xfrm>
            <a:off x="765950" y="5633045"/>
            <a:ext cx="5231773" cy="125214"/>
          </a:xfrm>
          <a:prstGeom prst="rect">
            <a:avLst/>
          </a:prstGeom>
          <a:noFill/>
          <a:ln/>
        </p:spPr>
        <p:txBody>
          <a:bodyPr wrap="none" lIns="0" tIns="0" rIns="0" bIns="0" rtlCol="0" anchor="t"/>
          <a:lstStyle/>
          <a:p>
            <a:pPr marL="0" indent="0" algn="l">
              <a:lnSpc>
                <a:spcPct val="106000"/>
              </a:lnSpc>
              <a:buNone/>
            </a:pPr>
            <a:r>
              <a:rPr lang="en-US" sz="750" dirty="0">
                <a:solidFill>
                  <a:srgbClr val="4C4C4C"/>
                </a:solidFill>
                <a:latin typeface="Noto Serif" pitchFamily="34" charset="0"/>
                <a:ea typeface="Noto Serif" pitchFamily="34" charset="-122"/>
                <a:cs typeface="Noto Serif" pitchFamily="34" charset="-120"/>
              </a:rPr>
              <a:t>IoT Sensor Networks &amp; Real-Time Monitoring</a:t>
            </a:r>
            <a:endParaRPr lang="en-US" sz="750" dirty="0"/>
          </a:p>
        </p:txBody>
      </p:sp>
      <p:sp>
        <p:nvSpPr>
          <p:cNvPr id="13" name="Shape 10"/>
          <p:cNvSpPr/>
          <p:nvPr/>
        </p:nvSpPr>
        <p:spPr>
          <a:xfrm>
            <a:off x="6095848" y="5346601"/>
            <a:ext cx="5428023" cy="509786"/>
          </a:xfrm>
          <a:custGeom>
            <a:avLst/>
            <a:gdLst/>
            <a:ahLst/>
            <a:cxnLst/>
            <a:rect l="l" t="t" r="r" b="b"/>
            <a:pathLst>
              <a:path w="5428023" h="509786">
                <a:moveTo>
                  <a:pt x="0" y="0"/>
                </a:moveTo>
                <a:lnTo>
                  <a:pt x="5393652" y="0"/>
                </a:lnTo>
                <a:arcTo wR="34370" hR="34371" stAng="16200000" swAng="5400000"/>
                <a:lnTo>
                  <a:pt x="5428023" y="509786"/>
                </a:lnTo>
                <a:lnTo>
                  <a:pt x="0" y="509786"/>
                </a:lnTo>
                <a:lnTo>
                  <a:pt x="0" y="0"/>
                </a:lnTo>
                <a:close/>
              </a:path>
            </a:pathLst>
          </a:custGeom>
          <a:solidFill>
            <a:srgbClr val="F2EDE5"/>
          </a:solidFill>
          <a:ln/>
        </p:spPr>
      </p:sp>
      <p:sp>
        <p:nvSpPr>
          <p:cNvPr id="14" name="Shape 11"/>
          <p:cNvSpPr/>
          <p:nvPr/>
        </p:nvSpPr>
        <p:spPr>
          <a:xfrm>
            <a:off x="6095848" y="5346601"/>
            <a:ext cx="12700" cy="509786"/>
          </a:xfrm>
          <a:prstGeom prst="roundRect">
            <a:avLst>
              <a:gd name="adj" fmla="val 49999"/>
            </a:avLst>
          </a:prstGeom>
          <a:solidFill>
            <a:srgbClr val="CCC4B8"/>
          </a:solidFill>
          <a:ln/>
        </p:spPr>
      </p:sp>
      <p:sp>
        <p:nvSpPr>
          <p:cNvPr id="15" name="Text 12"/>
          <p:cNvSpPr/>
          <p:nvPr/>
        </p:nvSpPr>
        <p:spPr>
          <a:xfrm>
            <a:off x="6193972" y="5444728"/>
            <a:ext cx="5231773" cy="153392"/>
          </a:xfrm>
          <a:prstGeom prst="rect">
            <a:avLst/>
          </a:prstGeom>
          <a:noFill/>
          <a:ln/>
        </p:spPr>
        <p:txBody>
          <a:bodyPr wrap="none" lIns="0" tIns="0" rIns="0" bIns="0" rtlCol="0" anchor="t"/>
          <a:lstStyle/>
          <a:p>
            <a:pPr marL="0" indent="0" algn="l">
              <a:lnSpc>
                <a:spcPct val="104000"/>
              </a:lnSpc>
              <a:buNone/>
            </a:pPr>
            <a:r>
              <a:rPr lang="en-US" sz="950" kern="0" spc="-19" dirty="0">
                <a:solidFill>
                  <a:srgbClr val="4C4C4C"/>
                </a:solidFill>
                <a:latin typeface="Noto Serif Medium" pitchFamily="34" charset="0"/>
                <a:ea typeface="Noto Serif Medium" pitchFamily="34" charset="-122"/>
                <a:cs typeface="Noto Serif Medium" pitchFamily="34" charset="-120"/>
              </a:rPr>
              <a:t>Approach</a:t>
            </a:r>
            <a:endParaRPr lang="en-US" sz="950" dirty="0"/>
          </a:p>
        </p:txBody>
      </p:sp>
      <p:sp>
        <p:nvSpPr>
          <p:cNvPr id="16" name="Text 13"/>
          <p:cNvSpPr/>
          <p:nvPr/>
        </p:nvSpPr>
        <p:spPr>
          <a:xfrm>
            <a:off x="6193972" y="5633045"/>
            <a:ext cx="5231773" cy="125214"/>
          </a:xfrm>
          <a:prstGeom prst="rect">
            <a:avLst/>
          </a:prstGeom>
          <a:noFill/>
          <a:ln/>
        </p:spPr>
        <p:txBody>
          <a:bodyPr wrap="none" lIns="0" tIns="0" rIns="0" bIns="0" rtlCol="0" anchor="t"/>
          <a:lstStyle/>
          <a:p>
            <a:pPr marL="0" indent="0" algn="l">
              <a:lnSpc>
                <a:spcPct val="106000"/>
              </a:lnSpc>
              <a:buNone/>
            </a:pPr>
            <a:r>
              <a:rPr lang="en-US" sz="750" dirty="0">
                <a:solidFill>
                  <a:srgbClr val="4C4C4C"/>
                </a:solidFill>
                <a:latin typeface="Noto Serif" pitchFamily="34" charset="0"/>
                <a:ea typeface="Noto Serif" pitchFamily="34" charset="-122"/>
                <a:cs typeface="Noto Serif" pitchFamily="34" charset="-120"/>
              </a:rPr>
              <a:t>Machine Learning Anomaly Detection</a:t>
            </a:r>
            <a:endParaRPr lang="en-US" sz="750" dirty="0"/>
          </a:p>
        </p:txBody>
      </p:sp>
      <p:sp>
        <p:nvSpPr>
          <p:cNvPr id="17" name="Shape 14"/>
          <p:cNvSpPr/>
          <p:nvPr/>
        </p:nvSpPr>
        <p:spPr>
          <a:xfrm>
            <a:off x="667825" y="5856387"/>
            <a:ext cx="5428023" cy="509786"/>
          </a:xfrm>
          <a:custGeom>
            <a:avLst/>
            <a:gdLst/>
            <a:ahLst/>
            <a:cxnLst/>
            <a:rect l="l" t="t" r="r" b="b"/>
            <a:pathLst>
              <a:path w="5428023" h="509786">
                <a:moveTo>
                  <a:pt x="0" y="0"/>
                </a:moveTo>
                <a:lnTo>
                  <a:pt x="5428023" y="0"/>
                </a:lnTo>
                <a:lnTo>
                  <a:pt x="5428023" y="509786"/>
                </a:lnTo>
                <a:lnTo>
                  <a:pt x="34370" y="509786"/>
                </a:lnTo>
                <a:arcTo wR="34370" hR="34371" stAng="5400000" swAng="5400000"/>
                <a:lnTo>
                  <a:pt x="0" y="0"/>
                </a:lnTo>
                <a:close/>
              </a:path>
            </a:pathLst>
          </a:custGeom>
          <a:solidFill>
            <a:srgbClr val="F2EDE5"/>
          </a:solidFill>
          <a:ln/>
        </p:spPr>
      </p:sp>
      <p:sp>
        <p:nvSpPr>
          <p:cNvPr id="18" name="Shape 15"/>
          <p:cNvSpPr/>
          <p:nvPr/>
        </p:nvSpPr>
        <p:spPr>
          <a:xfrm>
            <a:off x="667825" y="5856387"/>
            <a:ext cx="5428023" cy="12700"/>
          </a:xfrm>
          <a:prstGeom prst="roundRect">
            <a:avLst>
              <a:gd name="adj" fmla="val 49999"/>
            </a:avLst>
          </a:prstGeom>
          <a:solidFill>
            <a:srgbClr val="CCC4B8"/>
          </a:solidFill>
          <a:ln/>
        </p:spPr>
      </p:sp>
      <p:sp>
        <p:nvSpPr>
          <p:cNvPr id="19" name="Text 16"/>
          <p:cNvSpPr/>
          <p:nvPr/>
        </p:nvSpPr>
        <p:spPr>
          <a:xfrm>
            <a:off x="765950" y="5954514"/>
            <a:ext cx="5231773" cy="153392"/>
          </a:xfrm>
          <a:prstGeom prst="rect">
            <a:avLst/>
          </a:prstGeom>
          <a:noFill/>
          <a:ln/>
        </p:spPr>
        <p:txBody>
          <a:bodyPr wrap="none" lIns="0" tIns="0" rIns="0" bIns="0" rtlCol="0" anchor="t"/>
          <a:lstStyle/>
          <a:p>
            <a:pPr marL="0" indent="0" algn="l">
              <a:lnSpc>
                <a:spcPct val="104000"/>
              </a:lnSpc>
              <a:buNone/>
            </a:pPr>
            <a:r>
              <a:rPr lang="en-US" sz="950" kern="0" spc="-19" dirty="0">
                <a:solidFill>
                  <a:srgbClr val="4C4C4C"/>
                </a:solidFill>
                <a:latin typeface="Noto Serif Medium" pitchFamily="34" charset="0"/>
                <a:ea typeface="Noto Serif Medium" pitchFamily="34" charset="-122"/>
                <a:cs typeface="Noto Serif Medium" pitchFamily="34" charset="-120"/>
              </a:rPr>
              <a:t>Output</a:t>
            </a:r>
            <a:endParaRPr lang="en-US" sz="950" dirty="0"/>
          </a:p>
        </p:txBody>
      </p:sp>
      <p:sp>
        <p:nvSpPr>
          <p:cNvPr id="20" name="Text 17"/>
          <p:cNvSpPr/>
          <p:nvPr/>
        </p:nvSpPr>
        <p:spPr>
          <a:xfrm>
            <a:off x="765950" y="6142831"/>
            <a:ext cx="5231773" cy="125214"/>
          </a:xfrm>
          <a:prstGeom prst="rect">
            <a:avLst/>
          </a:prstGeom>
          <a:noFill/>
          <a:ln/>
        </p:spPr>
        <p:txBody>
          <a:bodyPr wrap="none" lIns="0" tIns="0" rIns="0" bIns="0" rtlCol="0" anchor="t"/>
          <a:lstStyle/>
          <a:p>
            <a:pPr marL="0" indent="0" algn="l">
              <a:lnSpc>
                <a:spcPct val="106000"/>
              </a:lnSpc>
              <a:buNone/>
            </a:pPr>
            <a:r>
              <a:rPr lang="en-US" sz="750" dirty="0">
                <a:solidFill>
                  <a:srgbClr val="4C4C4C"/>
                </a:solidFill>
                <a:latin typeface="Noto Serif" pitchFamily="34" charset="0"/>
                <a:ea typeface="Noto Serif" pitchFamily="34" charset="-122"/>
                <a:cs typeface="Noto Serif" pitchFamily="34" charset="-120"/>
              </a:rPr>
              <a:t>Automated Alerts &amp; Maintenance Support</a:t>
            </a:r>
            <a:endParaRPr lang="en-US" sz="750" dirty="0"/>
          </a:p>
        </p:txBody>
      </p:sp>
      <p:sp>
        <p:nvSpPr>
          <p:cNvPr id="21" name="Shape 18"/>
          <p:cNvSpPr/>
          <p:nvPr/>
        </p:nvSpPr>
        <p:spPr>
          <a:xfrm>
            <a:off x="6095848" y="5856387"/>
            <a:ext cx="5428023" cy="509786"/>
          </a:xfrm>
          <a:custGeom>
            <a:avLst/>
            <a:gdLst/>
            <a:ahLst/>
            <a:cxnLst/>
            <a:rect l="l" t="t" r="r" b="b"/>
            <a:pathLst>
              <a:path w="5428023" h="509786">
                <a:moveTo>
                  <a:pt x="0" y="0"/>
                </a:moveTo>
                <a:lnTo>
                  <a:pt x="5428023" y="0"/>
                </a:lnTo>
                <a:lnTo>
                  <a:pt x="5428023" y="475415"/>
                </a:lnTo>
                <a:arcTo wR="34370" hR="34371" stAng="0" swAng="5400000"/>
                <a:lnTo>
                  <a:pt x="0" y="509786"/>
                </a:lnTo>
                <a:lnTo>
                  <a:pt x="0" y="0"/>
                </a:lnTo>
                <a:close/>
              </a:path>
            </a:pathLst>
          </a:custGeom>
          <a:solidFill>
            <a:srgbClr val="F2EDE5"/>
          </a:solidFill>
          <a:ln/>
        </p:spPr>
      </p:sp>
      <p:sp>
        <p:nvSpPr>
          <p:cNvPr id="22" name="Shape 19"/>
          <p:cNvSpPr/>
          <p:nvPr/>
        </p:nvSpPr>
        <p:spPr>
          <a:xfrm>
            <a:off x="6095848" y="5856387"/>
            <a:ext cx="12700" cy="509786"/>
          </a:xfrm>
          <a:prstGeom prst="roundRect">
            <a:avLst>
              <a:gd name="adj" fmla="val 49999"/>
            </a:avLst>
          </a:prstGeom>
          <a:solidFill>
            <a:srgbClr val="CCC4B8"/>
          </a:solidFill>
          <a:ln/>
        </p:spPr>
      </p:sp>
      <p:sp>
        <p:nvSpPr>
          <p:cNvPr id="23" name="Shape 20"/>
          <p:cNvSpPr/>
          <p:nvPr/>
        </p:nvSpPr>
        <p:spPr>
          <a:xfrm>
            <a:off x="6095848" y="5856387"/>
            <a:ext cx="5428023" cy="12700"/>
          </a:xfrm>
          <a:prstGeom prst="roundRect">
            <a:avLst>
              <a:gd name="adj" fmla="val 49999"/>
            </a:avLst>
          </a:prstGeom>
          <a:solidFill>
            <a:srgbClr val="CCC4B8"/>
          </a:solidFill>
          <a:ln/>
        </p:spPr>
      </p:sp>
      <p:sp>
        <p:nvSpPr>
          <p:cNvPr id="24" name="Text 21"/>
          <p:cNvSpPr/>
          <p:nvPr/>
        </p:nvSpPr>
        <p:spPr>
          <a:xfrm>
            <a:off x="6193972" y="5954514"/>
            <a:ext cx="5231773" cy="153392"/>
          </a:xfrm>
          <a:prstGeom prst="rect">
            <a:avLst/>
          </a:prstGeom>
          <a:noFill/>
          <a:ln/>
        </p:spPr>
        <p:txBody>
          <a:bodyPr wrap="none" lIns="0" tIns="0" rIns="0" bIns="0" rtlCol="0" anchor="t"/>
          <a:lstStyle/>
          <a:p>
            <a:pPr marL="0" indent="0" algn="l">
              <a:lnSpc>
                <a:spcPct val="104000"/>
              </a:lnSpc>
              <a:buNone/>
            </a:pPr>
            <a:r>
              <a:rPr lang="en-US" sz="950" kern="0" spc="-19" dirty="0">
                <a:solidFill>
                  <a:srgbClr val="4C4C4C"/>
                </a:solidFill>
                <a:latin typeface="Noto Serif Medium" pitchFamily="34" charset="0"/>
                <a:ea typeface="Noto Serif Medium" pitchFamily="34" charset="-122"/>
                <a:cs typeface="Noto Serif Medium" pitchFamily="34" charset="-120"/>
              </a:rPr>
              <a:t>Scope</a:t>
            </a:r>
            <a:endParaRPr lang="en-US" sz="950" dirty="0"/>
          </a:p>
        </p:txBody>
      </p:sp>
      <p:sp>
        <p:nvSpPr>
          <p:cNvPr id="25" name="Text 22"/>
          <p:cNvSpPr/>
          <p:nvPr/>
        </p:nvSpPr>
        <p:spPr>
          <a:xfrm>
            <a:off x="6193972" y="6142831"/>
            <a:ext cx="5231773" cy="125214"/>
          </a:xfrm>
          <a:prstGeom prst="rect">
            <a:avLst/>
          </a:prstGeom>
          <a:noFill/>
          <a:ln/>
        </p:spPr>
        <p:txBody>
          <a:bodyPr wrap="none" lIns="0" tIns="0" rIns="0" bIns="0" rtlCol="0" anchor="t"/>
          <a:lstStyle/>
          <a:p>
            <a:pPr marL="0" indent="0" algn="l">
              <a:lnSpc>
                <a:spcPct val="106000"/>
              </a:lnSpc>
              <a:buNone/>
            </a:pPr>
            <a:r>
              <a:rPr lang="en-US" sz="750" dirty="0">
                <a:solidFill>
                  <a:srgbClr val="4C4C4C"/>
                </a:solidFill>
                <a:latin typeface="Noto Serif" pitchFamily="34" charset="0"/>
                <a:ea typeface="Noto Serif" pitchFamily="34" charset="-122"/>
                <a:cs typeface="Noto Serif" pitchFamily="34" charset="-120"/>
              </a:rPr>
              <a:t>Proposed Conceptual System Design</a:t>
            </a:r>
            <a:endParaRPr lang="en-US" sz="750" dirty="0"/>
          </a:p>
        </p:txBody>
      </p:sp>
      <p:sp>
        <p:nvSpPr>
          <p:cNvPr id="27" name="TextBox 26">
            <a:extLst>
              <a:ext uri="{FF2B5EF4-FFF2-40B4-BE49-F238E27FC236}">
                <a16:creationId xmlns:a16="http://schemas.microsoft.com/office/drawing/2014/main" id="{53BCB4BE-2C3C-C75A-348B-AD63A96D9C7A}"/>
              </a:ext>
            </a:extLst>
          </p:cNvPr>
          <p:cNvSpPr txBox="1"/>
          <p:nvPr/>
        </p:nvSpPr>
        <p:spPr>
          <a:xfrm>
            <a:off x="356682" y="3772327"/>
            <a:ext cx="1550424" cy="430887"/>
          </a:xfrm>
          <a:prstGeom prst="rect">
            <a:avLst/>
          </a:prstGeom>
          <a:noFill/>
        </p:spPr>
        <p:txBody>
          <a:bodyPr wrap="none" rtlCol="0">
            <a:spAutoFit/>
          </a:bodyPr>
          <a:lstStyle/>
          <a:p>
            <a:r>
              <a:rPr lang="en-US" sz="1100">
                <a:latin typeface="Times New Roman" panose="02020603050405020304" pitchFamily="18" charset="0"/>
                <a:cs typeface="Times New Roman" panose="02020603050405020304" pitchFamily="18" charset="0"/>
              </a:rPr>
              <a:t>JAGARAPU RAMESH</a:t>
            </a:r>
            <a:br>
              <a:rPr lang="en-US" sz="1100">
                <a:latin typeface="Times New Roman" panose="02020603050405020304" pitchFamily="18" charset="0"/>
                <a:cs typeface="Times New Roman" panose="02020603050405020304" pitchFamily="18" charset="0"/>
              </a:rPr>
            </a:br>
            <a:r>
              <a:rPr lang="en-US" sz="1100">
                <a:latin typeface="Times New Roman" panose="02020603050405020304" pitchFamily="18" charset="0"/>
                <a:cs typeface="Times New Roman" panose="02020603050405020304" pitchFamily="18" charset="0"/>
              </a:rPr>
              <a:t>324129510024</a:t>
            </a:r>
            <a:endParaRPr lang="en-US" sz="11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61475" y="514945"/>
            <a:ext cx="10868745" cy="968970"/>
          </a:xfrm>
          <a:prstGeom prst="rect">
            <a:avLst/>
          </a:prstGeom>
          <a:noFill/>
          <a:ln/>
        </p:spPr>
        <p:txBody>
          <a:bodyPr wrap="square" lIns="0" tIns="0" rIns="0" bIns="0" rtlCol="0" anchor="t">
            <a:normAutofit/>
          </a:bodyPr>
          <a:lstStyle/>
          <a:p>
            <a:pPr marL="0" indent="0" algn="l">
              <a:lnSpc>
                <a:spcPct val="104000"/>
              </a:lnSpc>
              <a:buNone/>
            </a:pPr>
            <a:r>
              <a:rPr lang="en-US" sz="3050" kern="0" spc="-61" dirty="0">
                <a:solidFill>
                  <a:srgbClr val="3A3A3A"/>
                </a:solidFill>
                <a:latin typeface="Noto Serif Medium" pitchFamily="34" charset="0"/>
                <a:ea typeface="Noto Serif Medium" pitchFamily="34" charset="-122"/>
                <a:cs typeface="Noto Serif Medium" pitchFamily="34" charset="-120"/>
              </a:rPr>
              <a:t>Introduction: IoT Sensor Networks and Real-Time Monitoring</a:t>
            </a:r>
            <a:endParaRPr lang="en-US" sz="3050" dirty="0"/>
          </a:p>
        </p:txBody>
      </p:sp>
      <p:sp>
        <p:nvSpPr>
          <p:cNvPr id="3" name="Shape 1"/>
          <p:cNvSpPr/>
          <p:nvPr/>
        </p:nvSpPr>
        <p:spPr>
          <a:xfrm>
            <a:off x="549857" y="1701899"/>
            <a:ext cx="5468503" cy="4641155"/>
          </a:xfrm>
          <a:prstGeom prst="roundRect">
            <a:avLst>
              <a:gd name="adj" fmla="val 2405"/>
            </a:avLst>
          </a:prstGeom>
          <a:solidFill>
            <a:srgbClr val="9C9283"/>
          </a:solidFill>
          <a:ln/>
        </p:spPr>
      </p:sp>
      <p:sp>
        <p:nvSpPr>
          <p:cNvPr id="4" name="Text 2"/>
          <p:cNvSpPr/>
          <p:nvPr/>
        </p:nvSpPr>
        <p:spPr>
          <a:xfrm>
            <a:off x="704832" y="1847255"/>
            <a:ext cx="5158551" cy="242193"/>
          </a:xfrm>
          <a:prstGeom prst="rect">
            <a:avLst/>
          </a:prstGeom>
          <a:noFill/>
          <a:ln/>
        </p:spPr>
        <p:txBody>
          <a:bodyPr wrap="none" lIns="0" tIns="0" rIns="0" bIns="0" rtlCol="0" anchor="t"/>
          <a:lstStyle/>
          <a:p>
            <a:pPr marL="0" indent="0" algn="l">
              <a:lnSpc>
                <a:spcPct val="104000"/>
              </a:lnSpc>
              <a:buNone/>
            </a:pPr>
            <a:r>
              <a:rPr lang="en-US" sz="1500" kern="0" spc="-31" dirty="0">
                <a:solidFill>
                  <a:srgbClr val="000000"/>
                </a:solidFill>
                <a:latin typeface="Noto Serif Medium" pitchFamily="34" charset="0"/>
                <a:ea typeface="Noto Serif Medium" pitchFamily="34" charset="-122"/>
                <a:cs typeface="Noto Serif Medium" pitchFamily="34" charset="-120"/>
              </a:rPr>
              <a:t>What Are IoT Sensor Networks?</a:t>
            </a:r>
            <a:endParaRPr lang="en-US" sz="1500" dirty="0"/>
          </a:p>
        </p:txBody>
      </p:sp>
      <p:sp>
        <p:nvSpPr>
          <p:cNvPr id="5" name="Text 3"/>
          <p:cNvSpPr/>
          <p:nvPr/>
        </p:nvSpPr>
        <p:spPr>
          <a:xfrm>
            <a:off x="704832" y="2234803"/>
            <a:ext cx="5158551" cy="1201539"/>
          </a:xfrm>
          <a:prstGeom prst="rect">
            <a:avLst/>
          </a:prstGeom>
          <a:noFill/>
          <a:ln/>
        </p:spPr>
        <p:txBody>
          <a:bodyPr wrap="square" lIns="0" tIns="0" rIns="0" bIns="0" rtlCol="0" anchor="t">
            <a:normAutofit/>
          </a:bodyPr>
          <a:lstStyle/>
          <a:p>
            <a:pPr marL="0" indent="0" algn="l">
              <a:lnSpc>
                <a:spcPct val="129000"/>
              </a:lnSpc>
              <a:buNone/>
            </a:pPr>
            <a:r>
              <a:rPr lang="en-US" sz="1200" dirty="0">
                <a:solidFill>
                  <a:srgbClr val="000000"/>
                </a:solidFill>
                <a:latin typeface="Noto Serif" pitchFamily="34" charset="0"/>
                <a:ea typeface="Noto Serif" pitchFamily="34" charset="-122"/>
                <a:cs typeface="Noto Serif" pitchFamily="34" charset="-120"/>
              </a:rPr>
              <a:t>Interconnected devices that continuously generate real-time data from physical environments. These networks span a wide range of application domains — from smart homes and industrial automation to healthcare and environmental monitoring — producing high volumes of sensor readings at high velocity.</a:t>
            </a:r>
            <a:endParaRPr lang="en-US" sz="1200" dirty="0"/>
          </a:p>
        </p:txBody>
      </p:sp>
      <p:sp>
        <p:nvSpPr>
          <p:cNvPr id="6" name="Text 4"/>
          <p:cNvSpPr/>
          <p:nvPr/>
        </p:nvSpPr>
        <p:spPr>
          <a:xfrm>
            <a:off x="704832" y="3581698"/>
            <a:ext cx="5158551" cy="242193"/>
          </a:xfrm>
          <a:prstGeom prst="rect">
            <a:avLst/>
          </a:prstGeom>
          <a:noFill/>
          <a:ln/>
        </p:spPr>
        <p:txBody>
          <a:bodyPr wrap="none" lIns="0" tIns="0" rIns="0" bIns="0" rtlCol="0" anchor="t"/>
          <a:lstStyle/>
          <a:p>
            <a:pPr marL="0" indent="0" algn="l">
              <a:lnSpc>
                <a:spcPct val="104000"/>
              </a:lnSpc>
              <a:buNone/>
            </a:pPr>
            <a:r>
              <a:rPr lang="en-US" sz="1500" kern="0" spc="-31" dirty="0">
                <a:solidFill>
                  <a:srgbClr val="000000"/>
                </a:solidFill>
                <a:latin typeface="Noto Serif Medium" pitchFamily="34" charset="0"/>
                <a:ea typeface="Noto Serif Medium" pitchFamily="34" charset="-122"/>
                <a:cs typeface="Noto Serif Medium" pitchFamily="34" charset="-120"/>
              </a:rPr>
              <a:t>Defining an Anomaly</a:t>
            </a:r>
            <a:endParaRPr lang="en-US" sz="1500" dirty="0"/>
          </a:p>
        </p:txBody>
      </p:sp>
      <p:sp>
        <p:nvSpPr>
          <p:cNvPr id="7" name="Text 5"/>
          <p:cNvSpPr/>
          <p:nvPr/>
        </p:nvSpPr>
        <p:spPr>
          <a:xfrm>
            <a:off x="704832" y="3969246"/>
            <a:ext cx="5158551" cy="961231"/>
          </a:xfrm>
          <a:prstGeom prst="rect">
            <a:avLst/>
          </a:prstGeom>
          <a:noFill/>
          <a:ln/>
        </p:spPr>
        <p:txBody>
          <a:bodyPr wrap="square" lIns="0" tIns="0" rIns="0" bIns="0" rtlCol="0" anchor="t">
            <a:normAutofit/>
          </a:bodyPr>
          <a:lstStyle/>
          <a:p>
            <a:pPr marL="0" indent="0" algn="l">
              <a:lnSpc>
                <a:spcPct val="129000"/>
              </a:lnSpc>
              <a:buNone/>
            </a:pPr>
            <a:r>
              <a:rPr lang="en-US" sz="1200" dirty="0">
                <a:solidFill>
                  <a:srgbClr val="000000"/>
                </a:solidFill>
                <a:latin typeface="Noto Serif" pitchFamily="34" charset="0"/>
                <a:ea typeface="Noto Serif" pitchFamily="34" charset="-122"/>
                <a:cs typeface="Noto Serif" pitchFamily="34" charset="-120"/>
              </a:rPr>
              <a:t>An anomaly is a sensor reading or pattern that </a:t>
            </a:r>
            <a:r>
              <a:rPr lang="en-US" sz="1200" b="1" dirty="0">
                <a:solidFill>
                  <a:srgbClr val="000000"/>
                </a:solidFill>
                <a:latin typeface="Noto Serif Bold" pitchFamily="34" charset="0"/>
                <a:ea typeface="Noto Serif Bold" pitchFamily="34" charset="-122"/>
                <a:cs typeface="Noto Serif Bold" pitchFamily="34" charset="-120"/>
              </a:rPr>
              <a:t>significantly differs from expected normal behavior</a:t>
            </a:r>
            <a:r>
              <a:rPr lang="en-US" sz="1200" dirty="0">
                <a:solidFill>
                  <a:srgbClr val="000000"/>
                </a:solidFill>
                <a:latin typeface="Noto Serif" pitchFamily="34" charset="0"/>
                <a:ea typeface="Noto Serif" pitchFamily="34" charset="-122"/>
                <a:cs typeface="Noto Serif" pitchFamily="34" charset="-120"/>
              </a:rPr>
              <a:t>, potentially indicating equipment failures, communication issues, or security threats. Anomalies may be subtle or dramatic, isolated or collective.</a:t>
            </a:r>
            <a:endParaRPr lang="en-US" sz="1200" dirty="0"/>
          </a:p>
        </p:txBody>
      </p:sp>
      <p:sp>
        <p:nvSpPr>
          <p:cNvPr id="8" name="Text 6"/>
          <p:cNvSpPr/>
          <p:nvPr/>
        </p:nvSpPr>
        <p:spPr>
          <a:xfrm>
            <a:off x="6291304" y="1847255"/>
            <a:ext cx="5245266" cy="242193"/>
          </a:xfrm>
          <a:prstGeom prst="rect">
            <a:avLst/>
          </a:prstGeom>
          <a:noFill/>
          <a:ln/>
        </p:spPr>
        <p:txBody>
          <a:bodyPr wrap="none" lIns="0" tIns="0" rIns="0" bIns="0" rtlCol="0" anchor="t"/>
          <a:lstStyle/>
          <a:p>
            <a:pPr marL="0" indent="0" algn="l">
              <a:lnSpc>
                <a:spcPct val="104000"/>
              </a:lnSpc>
              <a:buNone/>
            </a:pPr>
            <a:r>
              <a:rPr lang="en-US" sz="1500" kern="0" spc="-31" dirty="0">
                <a:solidFill>
                  <a:srgbClr val="3A3A3A"/>
                </a:solidFill>
                <a:latin typeface="Noto Serif Medium" pitchFamily="34" charset="0"/>
                <a:ea typeface="Noto Serif Medium" pitchFamily="34" charset="-122"/>
                <a:cs typeface="Noto Serif Medium" pitchFamily="34" charset="-120"/>
              </a:rPr>
              <a:t>The Monitoring Challenge</a:t>
            </a:r>
            <a:endParaRPr lang="en-US" sz="1500" dirty="0"/>
          </a:p>
        </p:txBody>
      </p:sp>
      <p:sp>
        <p:nvSpPr>
          <p:cNvPr id="9" name="Text 7"/>
          <p:cNvSpPr/>
          <p:nvPr/>
        </p:nvSpPr>
        <p:spPr>
          <a:xfrm>
            <a:off x="6291304" y="2234803"/>
            <a:ext cx="5245266" cy="961231"/>
          </a:xfrm>
          <a:prstGeom prst="rect">
            <a:avLst/>
          </a:prstGeom>
          <a:noFill/>
          <a:ln/>
        </p:spPr>
        <p:txBody>
          <a:bodyPr wrap="square" lIns="0" tIns="0" rIns="0" bIns="0" rtlCol="0" anchor="t">
            <a:normAutofit/>
          </a:bodyPr>
          <a:lstStyle/>
          <a:p>
            <a:pPr marL="0" indent="0" algn="l">
              <a:lnSpc>
                <a:spcPct val="129000"/>
              </a:lnSpc>
              <a:buNone/>
            </a:pPr>
            <a:r>
              <a:rPr lang="en-US" sz="1200" dirty="0">
                <a:solidFill>
                  <a:srgbClr val="4C4C4C"/>
                </a:solidFill>
                <a:latin typeface="Noto Serif" pitchFamily="34" charset="0"/>
                <a:ea typeface="Noto Serif" pitchFamily="34" charset="-122"/>
                <a:cs typeface="Noto Serif" pitchFamily="34" charset="-120"/>
              </a:rPr>
              <a:t>Manual monitoring becomes impractical due to the continuous stream of data from multiple sensors operating simultaneously. Human analysts cannot reliably track every reading across a large sensor network in real time.</a:t>
            </a:r>
            <a:endParaRPr lang="en-US" sz="1200" dirty="0"/>
          </a:p>
        </p:txBody>
      </p:sp>
      <p:sp>
        <p:nvSpPr>
          <p:cNvPr id="10" name="Text 8"/>
          <p:cNvSpPr/>
          <p:nvPr/>
        </p:nvSpPr>
        <p:spPr>
          <a:xfrm>
            <a:off x="6291304" y="3341390"/>
            <a:ext cx="5245266" cy="242193"/>
          </a:xfrm>
          <a:prstGeom prst="rect">
            <a:avLst/>
          </a:prstGeom>
          <a:noFill/>
          <a:ln/>
        </p:spPr>
        <p:txBody>
          <a:bodyPr wrap="none" lIns="0" tIns="0" rIns="0" bIns="0" rtlCol="0" anchor="t"/>
          <a:lstStyle/>
          <a:p>
            <a:pPr marL="0" indent="0" algn="l">
              <a:lnSpc>
                <a:spcPct val="104000"/>
              </a:lnSpc>
              <a:buNone/>
            </a:pPr>
            <a:r>
              <a:rPr lang="en-US" sz="1500" kern="0" spc="-31" dirty="0">
                <a:solidFill>
                  <a:srgbClr val="3A3A3A"/>
                </a:solidFill>
                <a:latin typeface="Noto Serif Medium" pitchFamily="34" charset="0"/>
                <a:ea typeface="Noto Serif Medium" pitchFamily="34" charset="-122"/>
                <a:cs typeface="Noto Serif Medium" pitchFamily="34" charset="-120"/>
              </a:rPr>
              <a:t>The Role of Machine Learning</a:t>
            </a:r>
            <a:endParaRPr lang="en-US" sz="1500" dirty="0"/>
          </a:p>
        </p:txBody>
      </p:sp>
      <p:sp>
        <p:nvSpPr>
          <p:cNvPr id="11" name="Text 9"/>
          <p:cNvSpPr/>
          <p:nvPr/>
        </p:nvSpPr>
        <p:spPr>
          <a:xfrm>
            <a:off x="6291304" y="3728938"/>
            <a:ext cx="5245266" cy="961231"/>
          </a:xfrm>
          <a:prstGeom prst="rect">
            <a:avLst/>
          </a:prstGeom>
          <a:noFill/>
          <a:ln/>
        </p:spPr>
        <p:txBody>
          <a:bodyPr wrap="square" lIns="0" tIns="0" rIns="0" bIns="0" rtlCol="0" anchor="t">
            <a:normAutofit/>
          </a:bodyPr>
          <a:lstStyle/>
          <a:p>
            <a:pPr marL="0" indent="0" algn="l">
              <a:lnSpc>
                <a:spcPct val="129000"/>
              </a:lnSpc>
              <a:buNone/>
            </a:pPr>
            <a:r>
              <a:rPr lang="en-US" sz="1200" dirty="0">
                <a:solidFill>
                  <a:srgbClr val="4C4C4C"/>
                </a:solidFill>
                <a:latin typeface="Noto Serif" pitchFamily="34" charset="0"/>
                <a:ea typeface="Noto Serif" pitchFamily="34" charset="-122"/>
                <a:cs typeface="Noto Serif" pitchFamily="34" charset="-120"/>
              </a:rPr>
              <a:t>Machine learning addresses this challenge by </a:t>
            </a:r>
            <a:r>
              <a:rPr lang="en-US" sz="1200" b="1" dirty="0">
                <a:solidFill>
                  <a:srgbClr val="4C4C4C"/>
                </a:solidFill>
                <a:latin typeface="Noto Serif Bold" pitchFamily="34" charset="0"/>
                <a:ea typeface="Noto Serif Bold" pitchFamily="34" charset="-122"/>
                <a:cs typeface="Noto Serif Bold" pitchFamily="34" charset="-120"/>
              </a:rPr>
              <a:t>automatically learning normal sensor patterns</a:t>
            </a:r>
            <a:r>
              <a:rPr lang="en-US" sz="1200" dirty="0">
                <a:solidFill>
                  <a:srgbClr val="4C4C4C"/>
                </a:solidFill>
                <a:latin typeface="Noto Serif" pitchFamily="34" charset="0"/>
                <a:ea typeface="Noto Serif" pitchFamily="34" charset="-122"/>
                <a:cs typeface="Noto Serif" pitchFamily="34" charset="-120"/>
              </a:rPr>
              <a:t> and detecting deviations without manual intervention. Rather than relying on fixed rules, ML models adapt to the statistical characteristics of each sensor's behavior over time.</a:t>
            </a:r>
            <a:endParaRPr lang="en-US" sz="1200" dirty="0"/>
          </a:p>
        </p:txBody>
      </p:sp>
      <p:sp>
        <p:nvSpPr>
          <p:cNvPr id="12" name="Shape 10"/>
          <p:cNvSpPr/>
          <p:nvPr/>
        </p:nvSpPr>
        <p:spPr>
          <a:xfrm>
            <a:off x="6291304" y="4853682"/>
            <a:ext cx="2549957" cy="590252"/>
          </a:xfrm>
          <a:prstGeom prst="roundRect">
            <a:avLst>
              <a:gd name="adj" fmla="val 11033"/>
            </a:avLst>
          </a:prstGeom>
          <a:solidFill>
            <a:srgbClr val="FDFBF7"/>
          </a:solidFill>
          <a:ln w="19050">
            <a:solidFill>
              <a:srgbClr val="E6DED2"/>
            </a:solidFill>
            <a:prstDash val="solid"/>
          </a:ln>
          <a:effectLst>
            <a:outerShdw blurRad="127" dist="20320" dir="2700000" algn="bl" rotWithShape="0">
              <a:srgbClr val="E6DED2">
                <a:alpha val="100000"/>
              </a:srgbClr>
            </a:outerShdw>
          </a:effectLst>
        </p:spPr>
      </p:sp>
      <p:sp>
        <p:nvSpPr>
          <p:cNvPr id="13" name="Text 11"/>
          <p:cNvSpPr/>
          <p:nvPr/>
        </p:nvSpPr>
        <p:spPr>
          <a:xfrm>
            <a:off x="6465329" y="5027712"/>
            <a:ext cx="2201907" cy="242193"/>
          </a:xfrm>
          <a:prstGeom prst="rect">
            <a:avLst/>
          </a:prstGeom>
          <a:noFill/>
          <a:ln/>
        </p:spPr>
        <p:txBody>
          <a:bodyPr wrap="none" lIns="0" tIns="0" rIns="0" bIns="0" rtlCol="0" anchor="t"/>
          <a:lstStyle/>
          <a:p>
            <a:pPr marL="0" indent="0" algn="l">
              <a:lnSpc>
                <a:spcPct val="104000"/>
              </a:lnSpc>
              <a:buNone/>
            </a:pPr>
            <a:r>
              <a:rPr lang="en-US" sz="1500" kern="0" spc="-31" dirty="0">
                <a:solidFill>
                  <a:srgbClr val="4C4C4C"/>
                </a:solidFill>
                <a:latin typeface="Noto Serif Medium" pitchFamily="34" charset="0"/>
                <a:ea typeface="Noto Serif Medium" pitchFamily="34" charset="-122"/>
                <a:cs typeface="Noto Serif Medium" pitchFamily="34" charset="-120"/>
              </a:rPr>
              <a:t>Smart Homes</a:t>
            </a:r>
            <a:endParaRPr lang="en-US" sz="1500" dirty="0"/>
          </a:p>
        </p:txBody>
      </p:sp>
      <p:sp>
        <p:nvSpPr>
          <p:cNvPr id="14" name="Shape 12"/>
          <p:cNvSpPr/>
          <p:nvPr/>
        </p:nvSpPr>
        <p:spPr>
          <a:xfrm>
            <a:off x="8986613" y="4853682"/>
            <a:ext cx="2549957" cy="590252"/>
          </a:xfrm>
          <a:prstGeom prst="roundRect">
            <a:avLst>
              <a:gd name="adj" fmla="val 11033"/>
            </a:avLst>
          </a:prstGeom>
          <a:solidFill>
            <a:srgbClr val="FDFBF7"/>
          </a:solidFill>
          <a:ln w="19050">
            <a:solidFill>
              <a:srgbClr val="E6DED2"/>
            </a:solidFill>
            <a:prstDash val="solid"/>
          </a:ln>
          <a:effectLst>
            <a:outerShdw blurRad="127" dist="20320" dir="2700000" algn="bl" rotWithShape="0">
              <a:srgbClr val="E6DED2">
                <a:alpha val="100000"/>
              </a:srgbClr>
            </a:outerShdw>
          </a:effectLst>
        </p:spPr>
      </p:sp>
      <p:sp>
        <p:nvSpPr>
          <p:cNvPr id="15" name="Text 13"/>
          <p:cNvSpPr/>
          <p:nvPr/>
        </p:nvSpPr>
        <p:spPr>
          <a:xfrm>
            <a:off x="9160638" y="5027712"/>
            <a:ext cx="2201907" cy="242193"/>
          </a:xfrm>
          <a:prstGeom prst="rect">
            <a:avLst/>
          </a:prstGeom>
          <a:noFill/>
          <a:ln/>
        </p:spPr>
        <p:txBody>
          <a:bodyPr wrap="none" lIns="0" tIns="0" rIns="0" bIns="0" rtlCol="0" anchor="t"/>
          <a:lstStyle/>
          <a:p>
            <a:pPr marL="0" indent="0" algn="l">
              <a:lnSpc>
                <a:spcPct val="104000"/>
              </a:lnSpc>
              <a:buNone/>
            </a:pPr>
            <a:r>
              <a:rPr lang="en-US" sz="1500" kern="0" spc="-31" dirty="0">
                <a:solidFill>
                  <a:srgbClr val="4C4C4C"/>
                </a:solidFill>
                <a:latin typeface="Noto Serif Medium" pitchFamily="34" charset="0"/>
                <a:ea typeface="Noto Serif Medium" pitchFamily="34" charset="-122"/>
                <a:cs typeface="Noto Serif Medium" pitchFamily="34" charset="-120"/>
              </a:rPr>
              <a:t>Industrial IoT</a:t>
            </a:r>
            <a:endParaRPr lang="en-US" sz="1500" dirty="0"/>
          </a:p>
        </p:txBody>
      </p:sp>
      <p:sp>
        <p:nvSpPr>
          <p:cNvPr id="16" name="Shape 14"/>
          <p:cNvSpPr/>
          <p:nvPr/>
        </p:nvSpPr>
        <p:spPr>
          <a:xfrm>
            <a:off x="6291304" y="5589290"/>
            <a:ext cx="2549957" cy="590252"/>
          </a:xfrm>
          <a:prstGeom prst="roundRect">
            <a:avLst>
              <a:gd name="adj" fmla="val 11033"/>
            </a:avLst>
          </a:prstGeom>
          <a:solidFill>
            <a:srgbClr val="FDFBF7"/>
          </a:solidFill>
          <a:ln w="19050">
            <a:solidFill>
              <a:srgbClr val="E6DED2"/>
            </a:solidFill>
            <a:prstDash val="solid"/>
          </a:ln>
          <a:effectLst>
            <a:outerShdw blurRad="127" dist="20320" dir="2700000" algn="bl" rotWithShape="0">
              <a:srgbClr val="E6DED2">
                <a:alpha val="100000"/>
              </a:srgbClr>
            </a:outerShdw>
          </a:effectLst>
        </p:spPr>
      </p:sp>
      <p:sp>
        <p:nvSpPr>
          <p:cNvPr id="17" name="Text 15"/>
          <p:cNvSpPr/>
          <p:nvPr/>
        </p:nvSpPr>
        <p:spPr>
          <a:xfrm>
            <a:off x="6465329" y="5763320"/>
            <a:ext cx="2201907" cy="242193"/>
          </a:xfrm>
          <a:prstGeom prst="rect">
            <a:avLst/>
          </a:prstGeom>
          <a:noFill/>
          <a:ln/>
        </p:spPr>
        <p:txBody>
          <a:bodyPr wrap="none" lIns="0" tIns="0" rIns="0" bIns="0" rtlCol="0" anchor="t"/>
          <a:lstStyle/>
          <a:p>
            <a:pPr marL="0" indent="0" algn="l">
              <a:lnSpc>
                <a:spcPct val="104000"/>
              </a:lnSpc>
              <a:buNone/>
            </a:pPr>
            <a:r>
              <a:rPr lang="en-US" sz="1500" kern="0" spc="-31" dirty="0">
                <a:solidFill>
                  <a:srgbClr val="4C4C4C"/>
                </a:solidFill>
                <a:latin typeface="Noto Serif Medium" pitchFamily="34" charset="0"/>
                <a:ea typeface="Noto Serif Medium" pitchFamily="34" charset="-122"/>
                <a:cs typeface="Noto Serif Medium" pitchFamily="34" charset="-120"/>
              </a:rPr>
              <a:t>Healthcare</a:t>
            </a:r>
            <a:endParaRPr lang="en-US" sz="1500" dirty="0"/>
          </a:p>
        </p:txBody>
      </p:sp>
      <p:sp>
        <p:nvSpPr>
          <p:cNvPr id="18" name="Shape 16"/>
          <p:cNvSpPr/>
          <p:nvPr/>
        </p:nvSpPr>
        <p:spPr>
          <a:xfrm>
            <a:off x="8986613" y="5589290"/>
            <a:ext cx="2549957" cy="590252"/>
          </a:xfrm>
          <a:prstGeom prst="roundRect">
            <a:avLst>
              <a:gd name="adj" fmla="val 11033"/>
            </a:avLst>
          </a:prstGeom>
          <a:solidFill>
            <a:srgbClr val="FDFBF7"/>
          </a:solidFill>
          <a:ln w="19050">
            <a:solidFill>
              <a:srgbClr val="E6DED2"/>
            </a:solidFill>
            <a:prstDash val="solid"/>
          </a:ln>
          <a:effectLst>
            <a:outerShdw blurRad="127" dist="20320" dir="2700000" algn="bl" rotWithShape="0">
              <a:srgbClr val="E6DED2">
                <a:alpha val="100000"/>
              </a:srgbClr>
            </a:outerShdw>
          </a:effectLst>
        </p:spPr>
      </p:sp>
      <p:sp>
        <p:nvSpPr>
          <p:cNvPr id="19" name="Text 17"/>
          <p:cNvSpPr/>
          <p:nvPr/>
        </p:nvSpPr>
        <p:spPr>
          <a:xfrm>
            <a:off x="9160638" y="5763320"/>
            <a:ext cx="2201907" cy="242193"/>
          </a:xfrm>
          <a:prstGeom prst="rect">
            <a:avLst/>
          </a:prstGeom>
          <a:noFill/>
          <a:ln/>
        </p:spPr>
        <p:txBody>
          <a:bodyPr wrap="none" lIns="0" tIns="0" rIns="0" bIns="0" rtlCol="0" anchor="t"/>
          <a:lstStyle/>
          <a:p>
            <a:pPr marL="0" indent="0" algn="l">
              <a:lnSpc>
                <a:spcPct val="104000"/>
              </a:lnSpc>
              <a:buNone/>
            </a:pPr>
            <a:r>
              <a:rPr lang="en-US" sz="1500" kern="0" spc="-31" dirty="0">
                <a:solidFill>
                  <a:srgbClr val="4C4C4C"/>
                </a:solidFill>
                <a:latin typeface="Noto Serif Medium" pitchFamily="34" charset="0"/>
                <a:ea typeface="Noto Serif Medium" pitchFamily="34" charset="-122"/>
                <a:cs typeface="Noto Serif Medium" pitchFamily="34" charset="-120"/>
              </a:rPr>
              <a:t>Environment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468213"/>
            <a:ext cx="10868745" cy="500658"/>
          </a:xfrm>
          <a:prstGeom prst="rect">
            <a:avLst/>
          </a:prstGeom>
          <a:noFill/>
          <a:ln/>
        </p:spPr>
        <p:txBody>
          <a:bodyPr wrap="none" lIns="0" tIns="0" rIns="0" bIns="0" rtlCol="0" anchor="t"/>
          <a:lstStyle/>
          <a:p>
            <a:pPr marL="0" indent="0" algn="l">
              <a:lnSpc>
                <a:spcPct val="104000"/>
              </a:lnSpc>
              <a:buNone/>
            </a:pPr>
            <a:r>
              <a:rPr lang="en-US" sz="3150" kern="0" spc="-63" dirty="0">
                <a:solidFill>
                  <a:srgbClr val="3A3A3A"/>
                </a:solidFill>
                <a:latin typeface="Noto Serif Medium" pitchFamily="34" charset="0"/>
                <a:ea typeface="Noto Serif Medium" pitchFamily="34" charset="-122"/>
                <a:cs typeface="Noto Serif Medium" pitchFamily="34" charset="-120"/>
              </a:rPr>
              <a:t>Problem Identification: Challenges in IoT Monitoring</a:t>
            </a:r>
            <a:endParaRPr lang="en-US" sz="3150" dirty="0"/>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1279227"/>
            <a:ext cx="3519399" cy="2467967"/>
          </a:xfrm>
          <a:prstGeom prst="rect">
            <a:avLst/>
          </a:prstGeom>
        </p:spPr>
      </p:pic>
      <p:sp>
        <p:nvSpPr>
          <p:cNvPr id="4" name="Text 1"/>
          <p:cNvSpPr/>
          <p:nvPr/>
        </p:nvSpPr>
        <p:spPr>
          <a:xfrm>
            <a:off x="916858" y="1458416"/>
            <a:ext cx="3084832" cy="250329"/>
          </a:xfrm>
          <a:prstGeom prst="rect">
            <a:avLst/>
          </a:prstGeom>
          <a:noFill/>
          <a:ln/>
        </p:spPr>
        <p:txBody>
          <a:bodyPr wrap="none" lIns="0" tIns="0" rIns="0" bIns="0" rtlCol="0" anchor="t"/>
          <a:lstStyle/>
          <a:p>
            <a:pPr marL="0" indent="0" algn="l">
              <a:lnSpc>
                <a:spcPct val="104000"/>
              </a:lnSpc>
              <a:buNone/>
            </a:pPr>
            <a:r>
              <a:rPr lang="en-US" sz="1550" kern="0" spc="-32" dirty="0">
                <a:solidFill>
                  <a:srgbClr val="4C4C4C"/>
                </a:solidFill>
                <a:latin typeface="Noto Serif Medium" pitchFamily="34" charset="0"/>
                <a:ea typeface="Noto Serif Medium" pitchFamily="34" charset="-122"/>
                <a:cs typeface="Noto Serif Medium" pitchFamily="34" charset="-120"/>
              </a:rPr>
              <a:t>Data Volume and Velocity</a:t>
            </a:r>
            <a:endParaRPr lang="en-US" sz="1550" dirty="0"/>
          </a:p>
        </p:txBody>
      </p:sp>
      <p:sp>
        <p:nvSpPr>
          <p:cNvPr id="5" name="Text 2"/>
          <p:cNvSpPr/>
          <p:nvPr/>
        </p:nvSpPr>
        <p:spPr>
          <a:xfrm>
            <a:off x="916858" y="1801813"/>
            <a:ext cx="3084832" cy="1513880"/>
          </a:xfrm>
          <a:prstGeom prst="rect">
            <a:avLst/>
          </a:prstGeom>
          <a:noFill/>
          <a:ln/>
        </p:spPr>
        <p:txBody>
          <a:bodyPr wrap="square" lIns="0" tIns="0" rIns="0" bIns="0" rtlCol="0" anchor="t">
            <a:normAutofit/>
          </a:bodyPr>
          <a:lstStyle/>
          <a:p>
            <a:pPr marL="0" indent="0" algn="l">
              <a:lnSpc>
                <a:spcPct val="131000"/>
              </a:lnSpc>
              <a:buNone/>
            </a:pPr>
            <a:r>
              <a:rPr lang="en-US" sz="1250" dirty="0">
                <a:solidFill>
                  <a:srgbClr val="4C4C4C"/>
                </a:solidFill>
                <a:latin typeface="Noto Serif" pitchFamily="34" charset="0"/>
                <a:ea typeface="Noto Serif" pitchFamily="34" charset="-122"/>
                <a:cs typeface="Noto Serif" pitchFamily="34" charset="-120"/>
              </a:rPr>
              <a:t>Large volumes of continuous real-time sensor data make manual analysis inefficient. The sheer scale of modern IoT deployments renders human-driven inspection infeasible as a primary monitoring strategy.</a:t>
            </a:r>
            <a:endParaRPr lang="en-US" sz="1250" dirty="0"/>
          </a:p>
        </p:txBody>
      </p:sp>
      <p:pic>
        <p:nvPicPr>
          <p:cNvPr id="6"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336049" y="1279227"/>
            <a:ext cx="3519499" cy="2467967"/>
          </a:xfrm>
          <a:prstGeom prst="rect">
            <a:avLst/>
          </a:prstGeom>
        </p:spPr>
      </p:pic>
      <p:sp>
        <p:nvSpPr>
          <p:cNvPr id="7" name="Text 3"/>
          <p:cNvSpPr/>
          <p:nvPr/>
        </p:nvSpPr>
        <p:spPr>
          <a:xfrm>
            <a:off x="4591431" y="1458416"/>
            <a:ext cx="3084931" cy="250329"/>
          </a:xfrm>
          <a:prstGeom prst="rect">
            <a:avLst/>
          </a:prstGeom>
          <a:noFill/>
          <a:ln/>
        </p:spPr>
        <p:txBody>
          <a:bodyPr wrap="none" lIns="0" tIns="0" rIns="0" bIns="0" rtlCol="0" anchor="t"/>
          <a:lstStyle/>
          <a:p>
            <a:pPr marL="0" indent="0" algn="l">
              <a:lnSpc>
                <a:spcPct val="104000"/>
              </a:lnSpc>
              <a:buNone/>
            </a:pPr>
            <a:r>
              <a:rPr lang="en-US" sz="1550" kern="0" spc="-32" dirty="0">
                <a:solidFill>
                  <a:srgbClr val="4C4C4C"/>
                </a:solidFill>
                <a:latin typeface="Noto Serif Medium" pitchFamily="34" charset="0"/>
                <a:ea typeface="Noto Serif Medium" pitchFamily="34" charset="-122"/>
                <a:cs typeface="Noto Serif Medium" pitchFamily="34" charset="-120"/>
              </a:rPr>
              <a:t>Detection Difficulty</a:t>
            </a:r>
            <a:endParaRPr lang="en-US" sz="1550" dirty="0"/>
          </a:p>
        </p:txBody>
      </p:sp>
      <p:sp>
        <p:nvSpPr>
          <p:cNvPr id="8" name="Text 4"/>
          <p:cNvSpPr/>
          <p:nvPr/>
        </p:nvSpPr>
        <p:spPr>
          <a:xfrm>
            <a:off x="4591431" y="1801813"/>
            <a:ext cx="3084931" cy="1766193"/>
          </a:xfrm>
          <a:prstGeom prst="rect">
            <a:avLst/>
          </a:prstGeom>
          <a:noFill/>
          <a:ln/>
        </p:spPr>
        <p:txBody>
          <a:bodyPr wrap="square" lIns="0" tIns="0" rIns="0" bIns="0" rtlCol="0" anchor="t">
            <a:normAutofit/>
          </a:bodyPr>
          <a:lstStyle/>
          <a:p>
            <a:pPr marL="0" indent="0" algn="l">
              <a:lnSpc>
                <a:spcPct val="131000"/>
              </a:lnSpc>
              <a:buNone/>
            </a:pPr>
            <a:r>
              <a:rPr lang="en-US" sz="1250" dirty="0">
                <a:solidFill>
                  <a:srgbClr val="4C4C4C"/>
                </a:solidFill>
                <a:latin typeface="Noto Serif" pitchFamily="34" charset="0"/>
                <a:ea typeface="Noto Serif" pitchFamily="34" charset="-122"/>
                <a:cs typeface="Noto Serif" pitchFamily="34" charset="-120"/>
              </a:rPr>
              <a:t>Identifying unusual sensor patterns and subtle changes in behavior is challenging without automated systems. Complex anomalies may not trigger simple threshold alerts yet still represent meaningful deviations from normal operation.</a:t>
            </a:r>
            <a:endParaRPr lang="en-US" sz="1250" dirty="0"/>
          </a:p>
        </p:txBody>
      </p:sp>
      <p:pic>
        <p:nvPicPr>
          <p:cNvPr id="9"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010721" y="1279227"/>
            <a:ext cx="3519499" cy="2467967"/>
          </a:xfrm>
          <a:prstGeom prst="rect">
            <a:avLst/>
          </a:prstGeom>
        </p:spPr>
      </p:pic>
      <p:sp>
        <p:nvSpPr>
          <p:cNvPr id="10" name="Text 5"/>
          <p:cNvSpPr/>
          <p:nvPr/>
        </p:nvSpPr>
        <p:spPr>
          <a:xfrm>
            <a:off x="8266104" y="1458416"/>
            <a:ext cx="3084931" cy="250329"/>
          </a:xfrm>
          <a:prstGeom prst="rect">
            <a:avLst/>
          </a:prstGeom>
          <a:noFill/>
          <a:ln/>
        </p:spPr>
        <p:txBody>
          <a:bodyPr wrap="none" lIns="0" tIns="0" rIns="0" bIns="0" rtlCol="0" anchor="t"/>
          <a:lstStyle/>
          <a:p>
            <a:pPr marL="0" indent="0" algn="l">
              <a:lnSpc>
                <a:spcPct val="104000"/>
              </a:lnSpc>
              <a:buNone/>
            </a:pPr>
            <a:r>
              <a:rPr lang="en-US" sz="1550" kern="0" spc="-32" dirty="0">
                <a:solidFill>
                  <a:srgbClr val="4C4C4C"/>
                </a:solidFill>
                <a:latin typeface="Noto Serif Medium" pitchFamily="34" charset="0"/>
                <a:ea typeface="Noto Serif Medium" pitchFamily="34" charset="-122"/>
                <a:cs typeface="Noto Serif Medium" pitchFamily="34" charset="-120"/>
              </a:rPr>
              <a:t>Delayed Response</a:t>
            </a:r>
            <a:endParaRPr lang="en-US" sz="1550" dirty="0"/>
          </a:p>
        </p:txBody>
      </p:sp>
      <p:sp>
        <p:nvSpPr>
          <p:cNvPr id="11" name="Text 6"/>
          <p:cNvSpPr/>
          <p:nvPr/>
        </p:nvSpPr>
        <p:spPr>
          <a:xfrm>
            <a:off x="8266104" y="1801813"/>
            <a:ext cx="3084931" cy="1513880"/>
          </a:xfrm>
          <a:prstGeom prst="rect">
            <a:avLst/>
          </a:prstGeom>
          <a:noFill/>
          <a:ln/>
        </p:spPr>
        <p:txBody>
          <a:bodyPr wrap="square" lIns="0" tIns="0" rIns="0" bIns="0" rtlCol="0" anchor="t">
            <a:normAutofit/>
          </a:bodyPr>
          <a:lstStyle/>
          <a:p>
            <a:pPr marL="0" indent="0" algn="l">
              <a:lnSpc>
                <a:spcPct val="131000"/>
              </a:lnSpc>
              <a:buNone/>
            </a:pPr>
            <a:r>
              <a:rPr lang="en-US" sz="1250" dirty="0">
                <a:solidFill>
                  <a:srgbClr val="4C4C4C"/>
                </a:solidFill>
                <a:latin typeface="Noto Serif" pitchFamily="34" charset="0"/>
                <a:ea typeface="Noto Serif" pitchFamily="34" charset="-122"/>
                <a:cs typeface="Noto Serif" pitchFamily="34" charset="-120"/>
              </a:rPr>
              <a:t>Manual monitoring leads to delayed anomaly identification and delayed fault detection. Time-sensitive issues — such as equipment degradation or communication failures — may escalate before they are noticed.</a:t>
            </a:r>
            <a:endParaRPr lang="en-US" sz="1250" dirty="0"/>
          </a:p>
        </p:txBody>
      </p:sp>
      <p:pic>
        <p:nvPicPr>
          <p:cNvPr id="12" name="Image 3"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3921720"/>
            <a:ext cx="3519399" cy="2467967"/>
          </a:xfrm>
          <a:prstGeom prst="rect">
            <a:avLst/>
          </a:prstGeom>
        </p:spPr>
      </p:pic>
      <p:sp>
        <p:nvSpPr>
          <p:cNvPr id="13" name="Text 7"/>
          <p:cNvSpPr/>
          <p:nvPr/>
        </p:nvSpPr>
        <p:spPr>
          <a:xfrm>
            <a:off x="916858" y="4100909"/>
            <a:ext cx="3084832" cy="250329"/>
          </a:xfrm>
          <a:prstGeom prst="rect">
            <a:avLst/>
          </a:prstGeom>
          <a:noFill/>
          <a:ln/>
        </p:spPr>
        <p:txBody>
          <a:bodyPr wrap="none" lIns="0" tIns="0" rIns="0" bIns="0" rtlCol="0" anchor="t"/>
          <a:lstStyle/>
          <a:p>
            <a:pPr marL="0" indent="0" algn="l">
              <a:lnSpc>
                <a:spcPct val="104000"/>
              </a:lnSpc>
              <a:buNone/>
            </a:pPr>
            <a:r>
              <a:rPr lang="en-US" sz="1550" kern="0" spc="-32" dirty="0">
                <a:solidFill>
                  <a:srgbClr val="4C4C4C"/>
                </a:solidFill>
                <a:latin typeface="Noto Serif Medium" pitchFamily="34" charset="0"/>
                <a:ea typeface="Noto Serif Medium" pitchFamily="34" charset="-122"/>
                <a:cs typeface="Noto Serif Medium" pitchFamily="34" charset="-120"/>
              </a:rPr>
              <a:t>Operational Risks</a:t>
            </a:r>
            <a:endParaRPr lang="en-US" sz="1550" dirty="0"/>
          </a:p>
        </p:txBody>
      </p:sp>
      <p:sp>
        <p:nvSpPr>
          <p:cNvPr id="14" name="Text 8"/>
          <p:cNvSpPr/>
          <p:nvPr/>
        </p:nvSpPr>
        <p:spPr>
          <a:xfrm>
            <a:off x="916858" y="4444305"/>
            <a:ext cx="3084832" cy="1766193"/>
          </a:xfrm>
          <a:prstGeom prst="rect">
            <a:avLst/>
          </a:prstGeom>
          <a:noFill/>
          <a:ln/>
        </p:spPr>
        <p:txBody>
          <a:bodyPr wrap="square" lIns="0" tIns="0" rIns="0" bIns="0" rtlCol="0" anchor="t">
            <a:normAutofit/>
          </a:bodyPr>
          <a:lstStyle/>
          <a:p>
            <a:pPr marL="0" indent="0" algn="l">
              <a:lnSpc>
                <a:spcPct val="131000"/>
              </a:lnSpc>
              <a:buNone/>
            </a:pPr>
            <a:r>
              <a:rPr lang="en-US" sz="1250" dirty="0">
                <a:solidFill>
                  <a:srgbClr val="4C4C4C"/>
                </a:solidFill>
                <a:latin typeface="Noto Serif" pitchFamily="34" charset="0"/>
                <a:ea typeface="Noto Serif" pitchFamily="34" charset="-122"/>
                <a:cs typeface="Noto Serif" pitchFamily="34" charset="-120"/>
              </a:rPr>
              <a:t>Undetected anomalies may indicate equipment failures, communication problems, or potential security threats. Without automated detection, organizations are exposed to operational disruptions and increased maintenance costs.</a:t>
            </a:r>
            <a:endParaRPr lang="en-US" sz="1250" dirty="0"/>
          </a:p>
        </p:txBody>
      </p:sp>
      <p:pic>
        <p:nvPicPr>
          <p:cNvPr id="15" name="Image 4"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336049" y="3921720"/>
            <a:ext cx="3519499" cy="2467967"/>
          </a:xfrm>
          <a:prstGeom prst="rect">
            <a:avLst/>
          </a:prstGeom>
        </p:spPr>
      </p:pic>
      <p:sp>
        <p:nvSpPr>
          <p:cNvPr id="16" name="Text 9"/>
          <p:cNvSpPr/>
          <p:nvPr/>
        </p:nvSpPr>
        <p:spPr>
          <a:xfrm>
            <a:off x="4591431" y="4100909"/>
            <a:ext cx="3084931" cy="250329"/>
          </a:xfrm>
          <a:prstGeom prst="rect">
            <a:avLst/>
          </a:prstGeom>
          <a:noFill/>
          <a:ln/>
        </p:spPr>
        <p:txBody>
          <a:bodyPr wrap="none" lIns="0" tIns="0" rIns="0" bIns="0" rtlCol="0" anchor="t"/>
          <a:lstStyle/>
          <a:p>
            <a:pPr marL="0" indent="0" algn="l">
              <a:lnSpc>
                <a:spcPct val="104000"/>
              </a:lnSpc>
              <a:buNone/>
            </a:pPr>
            <a:r>
              <a:rPr lang="en-US" sz="1550" kern="0" spc="-32" dirty="0">
                <a:solidFill>
                  <a:srgbClr val="4C4C4C"/>
                </a:solidFill>
                <a:latin typeface="Noto Serif Medium" pitchFamily="34" charset="0"/>
                <a:ea typeface="Noto Serif Medium" pitchFamily="34" charset="-122"/>
                <a:cs typeface="Noto Serif Medium" pitchFamily="34" charset="-120"/>
              </a:rPr>
              <a:t>Maintenance Gap</a:t>
            </a:r>
            <a:endParaRPr lang="en-US" sz="1550" dirty="0"/>
          </a:p>
        </p:txBody>
      </p:sp>
      <p:sp>
        <p:nvSpPr>
          <p:cNvPr id="17" name="Text 10"/>
          <p:cNvSpPr/>
          <p:nvPr/>
        </p:nvSpPr>
        <p:spPr>
          <a:xfrm>
            <a:off x="4591431" y="4444305"/>
            <a:ext cx="3084931" cy="1513880"/>
          </a:xfrm>
          <a:prstGeom prst="rect">
            <a:avLst/>
          </a:prstGeom>
          <a:noFill/>
          <a:ln/>
        </p:spPr>
        <p:txBody>
          <a:bodyPr wrap="square" lIns="0" tIns="0" rIns="0" bIns="0" rtlCol="0" anchor="t">
            <a:normAutofit/>
          </a:bodyPr>
          <a:lstStyle/>
          <a:p>
            <a:pPr marL="0" indent="0" algn="l">
              <a:lnSpc>
                <a:spcPct val="131000"/>
              </a:lnSpc>
              <a:buNone/>
            </a:pPr>
            <a:r>
              <a:rPr lang="en-US" sz="1250" dirty="0">
                <a:solidFill>
                  <a:srgbClr val="4C4C4C"/>
                </a:solidFill>
                <a:latin typeface="Noto Serif" pitchFamily="34" charset="0"/>
                <a:ea typeface="Noto Serif" pitchFamily="34" charset="-122"/>
                <a:cs typeface="Noto Serif" pitchFamily="34" charset="-120"/>
              </a:rPr>
              <a:t>Organizations lack centralized real-time monitoring and proactive maintenance support. Reactive maintenance strategies — responding only after failures occur — are costlier and less reliable than proactive approaches.</a:t>
            </a:r>
            <a:endParaRPr lang="en-US" sz="1250" dirty="0"/>
          </a:p>
        </p:txBody>
      </p:sp>
      <p:pic>
        <p:nvPicPr>
          <p:cNvPr id="18" name="Image 5"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010721" y="3921720"/>
            <a:ext cx="3519499" cy="2467967"/>
          </a:xfrm>
          <a:prstGeom prst="rect">
            <a:avLst/>
          </a:prstGeom>
        </p:spPr>
      </p:pic>
      <p:sp>
        <p:nvSpPr>
          <p:cNvPr id="19" name="Text 11"/>
          <p:cNvSpPr/>
          <p:nvPr/>
        </p:nvSpPr>
        <p:spPr>
          <a:xfrm>
            <a:off x="8266104" y="4100909"/>
            <a:ext cx="3084931" cy="250329"/>
          </a:xfrm>
          <a:prstGeom prst="rect">
            <a:avLst/>
          </a:prstGeom>
          <a:noFill/>
          <a:ln/>
        </p:spPr>
        <p:txBody>
          <a:bodyPr wrap="none" lIns="0" tIns="0" rIns="0" bIns="0" rtlCol="0" anchor="t"/>
          <a:lstStyle/>
          <a:p>
            <a:pPr marL="0" indent="0" algn="l">
              <a:lnSpc>
                <a:spcPct val="104000"/>
              </a:lnSpc>
              <a:buNone/>
            </a:pPr>
            <a:r>
              <a:rPr lang="en-US" sz="1550" kern="0" spc="-32" dirty="0">
                <a:solidFill>
                  <a:srgbClr val="4C4C4C"/>
                </a:solidFill>
                <a:latin typeface="Noto Serif Medium" pitchFamily="34" charset="0"/>
                <a:ea typeface="Noto Serif Medium" pitchFamily="34" charset="-122"/>
                <a:cs typeface="Noto Serif Medium" pitchFamily="34" charset="-120"/>
              </a:rPr>
              <a:t>Scalability Issue</a:t>
            </a:r>
            <a:endParaRPr lang="en-US" sz="1550" dirty="0"/>
          </a:p>
        </p:txBody>
      </p:sp>
      <p:sp>
        <p:nvSpPr>
          <p:cNvPr id="20" name="Text 12"/>
          <p:cNvSpPr/>
          <p:nvPr/>
        </p:nvSpPr>
        <p:spPr>
          <a:xfrm>
            <a:off x="8266104" y="4444305"/>
            <a:ext cx="3084931" cy="1513880"/>
          </a:xfrm>
          <a:prstGeom prst="rect">
            <a:avLst/>
          </a:prstGeom>
          <a:noFill/>
          <a:ln/>
        </p:spPr>
        <p:txBody>
          <a:bodyPr wrap="square" lIns="0" tIns="0" rIns="0" bIns="0" rtlCol="0" anchor="t">
            <a:normAutofit/>
          </a:bodyPr>
          <a:lstStyle/>
          <a:p>
            <a:pPr marL="0" indent="0" algn="l">
              <a:lnSpc>
                <a:spcPct val="131000"/>
              </a:lnSpc>
              <a:buNone/>
            </a:pPr>
            <a:r>
              <a:rPr lang="en-US" sz="1250" dirty="0">
                <a:solidFill>
                  <a:srgbClr val="4C4C4C"/>
                </a:solidFill>
                <a:latin typeface="Noto Serif" pitchFamily="34" charset="0"/>
                <a:ea typeface="Noto Serif" pitchFamily="34" charset="-122"/>
                <a:cs typeface="Noto Serif" pitchFamily="34" charset="-120"/>
              </a:rPr>
              <a:t>Traditional threshold-based approaches cannot detect complex abnormal patterns across large sensor networks. Fixed rules fail to capture the dynamic, context-dependent nature of sensor behavior at scale.</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530523"/>
            <a:ext cx="10868745" cy="516731"/>
          </a:xfrm>
          <a:prstGeom prst="rect">
            <a:avLst/>
          </a:prstGeom>
          <a:noFill/>
          <a:ln/>
        </p:spPr>
        <p:txBody>
          <a:bodyPr wrap="none" lIns="0" tIns="0" rIns="0" bIns="0" rtlCol="0" anchor="t"/>
          <a:lstStyle/>
          <a:p>
            <a:pPr marL="0" indent="0" algn="l">
              <a:lnSpc>
                <a:spcPct val="104000"/>
              </a:lnSpc>
              <a:buNone/>
            </a:pPr>
            <a:r>
              <a:rPr lang="en-US" sz="3250" kern="0" spc="-65" dirty="0">
                <a:solidFill>
                  <a:srgbClr val="3A3A3A"/>
                </a:solidFill>
                <a:latin typeface="Noto Serif Medium" pitchFamily="34" charset="0"/>
                <a:ea typeface="Noto Serif Medium" pitchFamily="34" charset="-122"/>
                <a:cs typeface="Noto Serif Medium" pitchFamily="34" charset="-120"/>
              </a:rPr>
              <a:t>Existing System Limitations</a:t>
            </a:r>
            <a:endParaRPr lang="en-US" sz="3250" dirty="0"/>
          </a:p>
        </p:txBody>
      </p:sp>
      <p:sp>
        <p:nvSpPr>
          <p:cNvPr id="3" name="Text 1"/>
          <p:cNvSpPr/>
          <p:nvPr/>
        </p:nvSpPr>
        <p:spPr>
          <a:xfrm>
            <a:off x="661475" y="1377950"/>
            <a:ext cx="10868745"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C4C4C"/>
                </a:solidFill>
                <a:latin typeface="Noto Serif" pitchFamily="34" charset="0"/>
                <a:ea typeface="Noto Serif" pitchFamily="34" charset="-122"/>
                <a:cs typeface="Noto Serif" pitchFamily="34" charset="-120"/>
              </a:rPr>
              <a:t>Current approaches to IoT sensor monitoring rely on methods that are fundamentally ill-suited to the scale and complexity of modern sensor networks. The following limitations motivate the need for an intelligent, ML-driven solution.</a:t>
            </a:r>
            <a:endParaRPr lang="en-US" sz="1300" dirty="0"/>
          </a:p>
        </p:txBody>
      </p:sp>
      <p:sp>
        <p:nvSpPr>
          <p:cNvPr id="4" name="Shape 2"/>
          <p:cNvSpPr/>
          <p:nvPr/>
        </p:nvSpPr>
        <p:spPr>
          <a:xfrm>
            <a:off x="661475" y="2093218"/>
            <a:ext cx="3512653" cy="2024063"/>
          </a:xfrm>
          <a:prstGeom prst="roundRect">
            <a:avLst>
              <a:gd name="adj" fmla="val 3432"/>
            </a:avLst>
          </a:prstGeom>
          <a:solidFill>
            <a:srgbClr val="E6DED2">
              <a:alpha val="50000"/>
            </a:srgbClr>
          </a:solidFill>
          <a:ln w="6350">
            <a:solidFill>
              <a:srgbClr val="CCC4B8"/>
            </a:solidFill>
            <a:prstDash val="solid"/>
          </a:ln>
          <a:effectLst>
            <a:outerShdw blurRad="127" dist="21590" dir="2700000" algn="bl" rotWithShape="0">
              <a:srgbClr val="CCC4B8">
                <a:alpha val="100000"/>
              </a:srgbClr>
            </a:outerShdw>
          </a:effectLst>
        </p:spPr>
      </p:sp>
      <p:sp>
        <p:nvSpPr>
          <p:cNvPr id="5" name="Text 3"/>
          <p:cNvSpPr/>
          <p:nvPr/>
        </p:nvSpPr>
        <p:spPr>
          <a:xfrm>
            <a:off x="833119" y="2264866"/>
            <a:ext cx="3169364" cy="258465"/>
          </a:xfrm>
          <a:prstGeom prst="rect">
            <a:avLst/>
          </a:prstGeom>
          <a:noFill/>
          <a:ln/>
        </p:spPr>
        <p:txBody>
          <a:bodyPr wrap="none" lIns="0" tIns="0" rIns="0" bIns="0" rtlCol="0" anchor="t"/>
          <a:lstStyle/>
          <a:p>
            <a:pPr marL="0" indent="0" algn="l">
              <a:lnSpc>
                <a:spcPct val="104000"/>
              </a:lnSpc>
              <a:buNone/>
            </a:pPr>
            <a:r>
              <a:rPr lang="en-US" sz="1600" kern="0" spc="-33" dirty="0">
                <a:solidFill>
                  <a:srgbClr val="000000"/>
                </a:solidFill>
                <a:latin typeface="Noto Serif Medium" pitchFamily="34" charset="0"/>
                <a:ea typeface="Noto Serif Medium" pitchFamily="34" charset="-122"/>
                <a:cs typeface="Noto Serif Medium" pitchFamily="34" charset="-120"/>
              </a:rPr>
              <a:t>Traditional Approaches</a:t>
            </a:r>
            <a:endParaRPr lang="en-US" sz="1600" dirty="0"/>
          </a:p>
        </p:txBody>
      </p:sp>
      <p:sp>
        <p:nvSpPr>
          <p:cNvPr id="6" name="Text 4"/>
          <p:cNvSpPr/>
          <p:nvPr/>
        </p:nvSpPr>
        <p:spPr>
          <a:xfrm>
            <a:off x="833119" y="2622550"/>
            <a:ext cx="3169364" cy="1323082"/>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000000"/>
                </a:solidFill>
                <a:latin typeface="Noto Serif" pitchFamily="34" charset="0"/>
                <a:ea typeface="Noto Serif" pitchFamily="34" charset="-122"/>
                <a:cs typeface="Noto Serif" pitchFamily="34" charset="-120"/>
              </a:rPr>
              <a:t>Manual sensor monitoring, threshold-based alerts, periodic inspections, and individual sensor analysis form the basis of most existing systems — none of which scale effectively.</a:t>
            </a:r>
            <a:endParaRPr lang="en-US" sz="1300" dirty="0"/>
          </a:p>
        </p:txBody>
      </p:sp>
      <p:sp>
        <p:nvSpPr>
          <p:cNvPr id="7" name="Shape 5"/>
          <p:cNvSpPr/>
          <p:nvPr/>
        </p:nvSpPr>
        <p:spPr>
          <a:xfrm>
            <a:off x="4339422" y="2093218"/>
            <a:ext cx="3512752" cy="2024063"/>
          </a:xfrm>
          <a:prstGeom prst="roundRect">
            <a:avLst>
              <a:gd name="adj" fmla="val 3432"/>
            </a:avLst>
          </a:prstGeom>
          <a:solidFill>
            <a:srgbClr val="E6DED2">
              <a:alpha val="50000"/>
            </a:srgbClr>
          </a:solidFill>
          <a:ln w="6350">
            <a:solidFill>
              <a:srgbClr val="CCC4B8"/>
            </a:solidFill>
            <a:prstDash val="solid"/>
          </a:ln>
          <a:effectLst>
            <a:outerShdw blurRad="127" dist="21590" dir="2700000" algn="bl" rotWithShape="0">
              <a:srgbClr val="CCC4B8">
                <a:alpha val="100000"/>
              </a:srgbClr>
            </a:outerShdw>
          </a:effectLst>
        </p:spPr>
      </p:sp>
      <p:sp>
        <p:nvSpPr>
          <p:cNvPr id="8" name="Text 6"/>
          <p:cNvSpPr/>
          <p:nvPr/>
        </p:nvSpPr>
        <p:spPr>
          <a:xfrm>
            <a:off x="4511066" y="2264866"/>
            <a:ext cx="3169464" cy="258465"/>
          </a:xfrm>
          <a:prstGeom prst="rect">
            <a:avLst/>
          </a:prstGeom>
          <a:noFill/>
          <a:ln/>
        </p:spPr>
        <p:txBody>
          <a:bodyPr wrap="none" lIns="0" tIns="0" rIns="0" bIns="0" rtlCol="0" anchor="t"/>
          <a:lstStyle/>
          <a:p>
            <a:pPr marL="0" indent="0" algn="l">
              <a:lnSpc>
                <a:spcPct val="104000"/>
              </a:lnSpc>
              <a:buNone/>
            </a:pPr>
            <a:r>
              <a:rPr lang="en-US" sz="1600" kern="0" spc="-33" dirty="0">
                <a:solidFill>
                  <a:srgbClr val="000000"/>
                </a:solidFill>
                <a:latin typeface="Noto Serif Medium" pitchFamily="34" charset="0"/>
                <a:ea typeface="Noto Serif Medium" pitchFamily="34" charset="-122"/>
                <a:cs typeface="Noto Serif Medium" pitchFamily="34" charset="-120"/>
              </a:rPr>
              <a:t>Static Thresholds</a:t>
            </a:r>
            <a:endParaRPr lang="en-US" sz="1600" dirty="0"/>
          </a:p>
        </p:txBody>
      </p:sp>
      <p:sp>
        <p:nvSpPr>
          <p:cNvPr id="9" name="Text 7"/>
          <p:cNvSpPr/>
          <p:nvPr/>
        </p:nvSpPr>
        <p:spPr>
          <a:xfrm>
            <a:off x="4511066" y="2622550"/>
            <a:ext cx="3169464" cy="1323082"/>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000000"/>
                </a:solidFill>
                <a:latin typeface="Noto Serif" pitchFamily="34" charset="0"/>
                <a:ea typeface="Noto Serif" pitchFamily="34" charset="-122"/>
                <a:cs typeface="Noto Serif" pitchFamily="34" charset="-120"/>
              </a:rPr>
              <a:t>Fixed threshold values cannot adapt to varying sensor behavior or detect complex anomalies. They produce both false positives (unnecessary alerts) and false negatives (missed anomalies).</a:t>
            </a:r>
            <a:endParaRPr lang="en-US" sz="1300" dirty="0"/>
          </a:p>
        </p:txBody>
      </p:sp>
      <p:sp>
        <p:nvSpPr>
          <p:cNvPr id="10" name="Shape 8"/>
          <p:cNvSpPr/>
          <p:nvPr/>
        </p:nvSpPr>
        <p:spPr>
          <a:xfrm>
            <a:off x="8017468" y="2093218"/>
            <a:ext cx="3512653" cy="2024063"/>
          </a:xfrm>
          <a:prstGeom prst="roundRect">
            <a:avLst>
              <a:gd name="adj" fmla="val 3432"/>
            </a:avLst>
          </a:prstGeom>
          <a:solidFill>
            <a:srgbClr val="E6DED2">
              <a:alpha val="50000"/>
            </a:srgbClr>
          </a:solidFill>
          <a:ln w="6350">
            <a:solidFill>
              <a:srgbClr val="CCC4B8"/>
            </a:solidFill>
            <a:prstDash val="solid"/>
          </a:ln>
          <a:effectLst>
            <a:outerShdw blurRad="127" dist="21590" dir="2700000" algn="bl" rotWithShape="0">
              <a:srgbClr val="CCC4B8">
                <a:alpha val="100000"/>
              </a:srgbClr>
            </a:outerShdw>
          </a:effectLst>
        </p:spPr>
      </p:sp>
      <p:sp>
        <p:nvSpPr>
          <p:cNvPr id="11" name="Text 9"/>
          <p:cNvSpPr/>
          <p:nvPr/>
        </p:nvSpPr>
        <p:spPr>
          <a:xfrm>
            <a:off x="8189112" y="2264866"/>
            <a:ext cx="3169364" cy="258465"/>
          </a:xfrm>
          <a:prstGeom prst="rect">
            <a:avLst/>
          </a:prstGeom>
          <a:noFill/>
          <a:ln/>
        </p:spPr>
        <p:txBody>
          <a:bodyPr wrap="none" lIns="0" tIns="0" rIns="0" bIns="0" rtlCol="0" anchor="t"/>
          <a:lstStyle/>
          <a:p>
            <a:pPr marL="0" indent="0" algn="l">
              <a:lnSpc>
                <a:spcPct val="104000"/>
              </a:lnSpc>
              <a:buNone/>
            </a:pPr>
            <a:r>
              <a:rPr lang="en-US" sz="1600" kern="0" spc="-33" dirty="0">
                <a:solidFill>
                  <a:srgbClr val="000000"/>
                </a:solidFill>
                <a:latin typeface="Noto Serif Medium" pitchFamily="34" charset="0"/>
                <a:ea typeface="Noto Serif Medium" pitchFamily="34" charset="-122"/>
                <a:cs typeface="Noto Serif Medium" pitchFamily="34" charset="-120"/>
              </a:rPr>
              <a:t>Scalability Constraints</a:t>
            </a:r>
            <a:endParaRPr lang="en-US" sz="1600" dirty="0"/>
          </a:p>
        </p:txBody>
      </p:sp>
      <p:sp>
        <p:nvSpPr>
          <p:cNvPr id="12" name="Text 10"/>
          <p:cNvSpPr/>
          <p:nvPr/>
        </p:nvSpPr>
        <p:spPr>
          <a:xfrm>
            <a:off x="8189112" y="2622550"/>
            <a:ext cx="3169364" cy="1323082"/>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000000"/>
                </a:solidFill>
                <a:latin typeface="Noto Serif" pitchFamily="34" charset="0"/>
                <a:ea typeface="Noto Serif" pitchFamily="34" charset="-122"/>
                <a:cs typeface="Noto Serif" pitchFamily="34" charset="-120"/>
              </a:rPr>
              <a:t>Difficult to monitor large sensor networks manually. High data volume makes analysis inefficient and error-prone, particularly as the number of connected devices grows.</a:t>
            </a:r>
            <a:endParaRPr lang="en-US" sz="1300" dirty="0"/>
          </a:p>
        </p:txBody>
      </p:sp>
      <p:sp>
        <p:nvSpPr>
          <p:cNvPr id="13" name="Shape 11"/>
          <p:cNvSpPr/>
          <p:nvPr/>
        </p:nvSpPr>
        <p:spPr>
          <a:xfrm>
            <a:off x="661475" y="4303316"/>
            <a:ext cx="3512653" cy="2024063"/>
          </a:xfrm>
          <a:prstGeom prst="roundRect">
            <a:avLst>
              <a:gd name="adj" fmla="val 3432"/>
            </a:avLst>
          </a:prstGeom>
          <a:solidFill>
            <a:srgbClr val="E6DED2">
              <a:alpha val="50000"/>
            </a:srgbClr>
          </a:solidFill>
          <a:ln w="6350">
            <a:solidFill>
              <a:srgbClr val="CCC4B8"/>
            </a:solidFill>
            <a:prstDash val="solid"/>
          </a:ln>
          <a:effectLst>
            <a:outerShdw blurRad="127" dist="21590" dir="2700000" algn="bl" rotWithShape="0">
              <a:srgbClr val="CCC4B8">
                <a:alpha val="100000"/>
              </a:srgbClr>
            </a:outerShdw>
          </a:effectLst>
        </p:spPr>
      </p:sp>
      <p:sp>
        <p:nvSpPr>
          <p:cNvPr id="14" name="Text 12"/>
          <p:cNvSpPr/>
          <p:nvPr/>
        </p:nvSpPr>
        <p:spPr>
          <a:xfrm>
            <a:off x="833119" y="4474964"/>
            <a:ext cx="3169364" cy="258465"/>
          </a:xfrm>
          <a:prstGeom prst="rect">
            <a:avLst/>
          </a:prstGeom>
          <a:noFill/>
          <a:ln/>
        </p:spPr>
        <p:txBody>
          <a:bodyPr wrap="none" lIns="0" tIns="0" rIns="0" bIns="0" rtlCol="0" anchor="t"/>
          <a:lstStyle/>
          <a:p>
            <a:pPr marL="0" indent="0" algn="l">
              <a:lnSpc>
                <a:spcPct val="104000"/>
              </a:lnSpc>
              <a:buNone/>
            </a:pPr>
            <a:r>
              <a:rPr lang="en-US" sz="1600" kern="0" spc="-33" dirty="0">
                <a:solidFill>
                  <a:srgbClr val="000000"/>
                </a:solidFill>
                <a:latin typeface="Noto Serif Medium" pitchFamily="34" charset="0"/>
                <a:ea typeface="Noto Serif Medium" pitchFamily="34" charset="-122"/>
                <a:cs typeface="Noto Serif Medium" pitchFamily="34" charset="-120"/>
              </a:rPr>
              <a:t>Limited Pattern Recognition</a:t>
            </a:r>
            <a:endParaRPr lang="en-US" sz="1600" dirty="0"/>
          </a:p>
        </p:txBody>
      </p:sp>
      <p:sp>
        <p:nvSpPr>
          <p:cNvPr id="15" name="Text 13"/>
          <p:cNvSpPr/>
          <p:nvPr/>
        </p:nvSpPr>
        <p:spPr>
          <a:xfrm>
            <a:off x="833119" y="4832648"/>
            <a:ext cx="3169364" cy="1058466"/>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000000"/>
                </a:solidFill>
                <a:latin typeface="Noto Serif" pitchFamily="34" charset="0"/>
                <a:ea typeface="Noto Serif" pitchFamily="34" charset="-122"/>
                <a:cs typeface="Noto Serif" pitchFamily="34" charset="-120"/>
              </a:rPr>
              <a:t>Existing systems cannot detect subtle changes in sensor behavior or unusual combinations of readings across multiple parameters simultaneously.</a:t>
            </a:r>
            <a:endParaRPr lang="en-US" sz="1300" dirty="0"/>
          </a:p>
        </p:txBody>
      </p:sp>
      <p:sp>
        <p:nvSpPr>
          <p:cNvPr id="16" name="Shape 14"/>
          <p:cNvSpPr/>
          <p:nvPr/>
        </p:nvSpPr>
        <p:spPr>
          <a:xfrm>
            <a:off x="4339422" y="4303316"/>
            <a:ext cx="3512752" cy="2024063"/>
          </a:xfrm>
          <a:prstGeom prst="roundRect">
            <a:avLst>
              <a:gd name="adj" fmla="val 3432"/>
            </a:avLst>
          </a:prstGeom>
          <a:solidFill>
            <a:srgbClr val="E6DED2">
              <a:alpha val="50000"/>
            </a:srgbClr>
          </a:solidFill>
          <a:ln w="6350">
            <a:solidFill>
              <a:srgbClr val="CCC4B8"/>
            </a:solidFill>
            <a:prstDash val="solid"/>
          </a:ln>
          <a:effectLst>
            <a:outerShdw blurRad="127" dist="21590" dir="2700000" algn="bl" rotWithShape="0">
              <a:srgbClr val="CCC4B8">
                <a:alpha val="100000"/>
              </a:srgbClr>
            </a:outerShdw>
          </a:effectLst>
        </p:spPr>
      </p:sp>
      <p:sp>
        <p:nvSpPr>
          <p:cNvPr id="17" name="Text 15"/>
          <p:cNvSpPr/>
          <p:nvPr/>
        </p:nvSpPr>
        <p:spPr>
          <a:xfrm>
            <a:off x="4511066" y="4474964"/>
            <a:ext cx="3169464" cy="258465"/>
          </a:xfrm>
          <a:prstGeom prst="rect">
            <a:avLst/>
          </a:prstGeom>
          <a:noFill/>
          <a:ln/>
        </p:spPr>
        <p:txBody>
          <a:bodyPr wrap="none" lIns="0" tIns="0" rIns="0" bIns="0" rtlCol="0" anchor="t"/>
          <a:lstStyle/>
          <a:p>
            <a:pPr marL="0" indent="0" algn="l">
              <a:lnSpc>
                <a:spcPct val="104000"/>
              </a:lnSpc>
              <a:buNone/>
            </a:pPr>
            <a:r>
              <a:rPr lang="en-US" sz="1600" kern="0" spc="-33" dirty="0">
                <a:solidFill>
                  <a:srgbClr val="000000"/>
                </a:solidFill>
                <a:latin typeface="Noto Serif Medium" pitchFamily="34" charset="0"/>
                <a:ea typeface="Noto Serif Medium" pitchFamily="34" charset="-122"/>
                <a:cs typeface="Noto Serif Medium" pitchFamily="34" charset="-120"/>
              </a:rPr>
              <a:t>Lack of Centralization</a:t>
            </a:r>
            <a:endParaRPr lang="en-US" sz="1600" dirty="0"/>
          </a:p>
        </p:txBody>
      </p:sp>
      <p:sp>
        <p:nvSpPr>
          <p:cNvPr id="18" name="Text 16"/>
          <p:cNvSpPr/>
          <p:nvPr/>
        </p:nvSpPr>
        <p:spPr>
          <a:xfrm>
            <a:off x="4511066" y="4832648"/>
            <a:ext cx="3169464" cy="1323082"/>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000000"/>
                </a:solidFill>
                <a:latin typeface="Noto Serif" pitchFamily="34" charset="0"/>
                <a:ea typeface="Noto Serif" pitchFamily="34" charset="-122"/>
                <a:cs typeface="Noto Serif" pitchFamily="34" charset="-120"/>
              </a:rPr>
              <a:t>Limited centralized analytics and visibility into overall sensor network health. Operators must consult multiple disconnected tools to assess system status.</a:t>
            </a:r>
            <a:endParaRPr lang="en-US" sz="1300" dirty="0"/>
          </a:p>
        </p:txBody>
      </p:sp>
      <p:sp>
        <p:nvSpPr>
          <p:cNvPr id="19" name="Shape 17"/>
          <p:cNvSpPr/>
          <p:nvPr/>
        </p:nvSpPr>
        <p:spPr>
          <a:xfrm>
            <a:off x="8017468" y="4303316"/>
            <a:ext cx="3512653" cy="2024063"/>
          </a:xfrm>
          <a:prstGeom prst="roundRect">
            <a:avLst>
              <a:gd name="adj" fmla="val 3432"/>
            </a:avLst>
          </a:prstGeom>
          <a:solidFill>
            <a:srgbClr val="E6DED2">
              <a:alpha val="50000"/>
            </a:srgbClr>
          </a:solidFill>
          <a:ln w="6350">
            <a:solidFill>
              <a:srgbClr val="CCC4B8"/>
            </a:solidFill>
            <a:prstDash val="solid"/>
          </a:ln>
          <a:effectLst>
            <a:outerShdw blurRad="127" dist="21590" dir="2700000" algn="bl" rotWithShape="0">
              <a:srgbClr val="CCC4B8">
                <a:alpha val="100000"/>
              </a:srgbClr>
            </a:outerShdw>
          </a:effectLst>
        </p:spPr>
      </p:sp>
      <p:sp>
        <p:nvSpPr>
          <p:cNvPr id="20" name="Text 18"/>
          <p:cNvSpPr/>
          <p:nvPr/>
        </p:nvSpPr>
        <p:spPr>
          <a:xfrm>
            <a:off x="8189112" y="4474964"/>
            <a:ext cx="3169364" cy="258465"/>
          </a:xfrm>
          <a:prstGeom prst="rect">
            <a:avLst/>
          </a:prstGeom>
          <a:noFill/>
          <a:ln/>
        </p:spPr>
        <p:txBody>
          <a:bodyPr wrap="none" lIns="0" tIns="0" rIns="0" bIns="0" rtlCol="0" anchor="t"/>
          <a:lstStyle/>
          <a:p>
            <a:pPr marL="0" indent="0" algn="l">
              <a:lnSpc>
                <a:spcPct val="104000"/>
              </a:lnSpc>
              <a:buNone/>
            </a:pPr>
            <a:r>
              <a:rPr lang="en-US" sz="1600" kern="0" spc="-33" dirty="0">
                <a:solidFill>
                  <a:srgbClr val="000000"/>
                </a:solidFill>
                <a:latin typeface="Noto Serif Medium" pitchFamily="34" charset="0"/>
                <a:ea typeface="Noto Serif Medium" pitchFamily="34" charset="-122"/>
                <a:cs typeface="Noto Serif Medium" pitchFamily="34" charset="-120"/>
              </a:rPr>
              <a:t>Maintenance Support</a:t>
            </a:r>
            <a:endParaRPr lang="en-US" sz="1600" dirty="0"/>
          </a:p>
        </p:txBody>
      </p:sp>
      <p:sp>
        <p:nvSpPr>
          <p:cNvPr id="21" name="Text 19"/>
          <p:cNvSpPr/>
          <p:nvPr/>
        </p:nvSpPr>
        <p:spPr>
          <a:xfrm>
            <a:off x="8189112" y="4832648"/>
            <a:ext cx="3169364" cy="1323082"/>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000000"/>
                </a:solidFill>
                <a:latin typeface="Noto Serif" pitchFamily="34" charset="0"/>
                <a:ea typeface="Noto Serif" pitchFamily="34" charset="-122"/>
                <a:cs typeface="Noto Serif" pitchFamily="34" charset="-120"/>
              </a:rPr>
              <a:t>Limited predictive maintenance support and delayed fault identification. Without early warning signals, maintenance remains reactive rather than proactive.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454819"/>
            <a:ext cx="10868745" cy="258465"/>
          </a:xfrm>
          <a:prstGeom prst="rect">
            <a:avLst/>
          </a:prstGeom>
          <a:noFill/>
          <a:ln/>
        </p:spPr>
        <p:txBody>
          <a:bodyPr wrap="none" lIns="0" tIns="0" rIns="0" bIns="0" rtlCol="0" anchor="t"/>
          <a:lstStyle/>
          <a:p>
            <a:pPr marL="0" indent="0" algn="l">
              <a:lnSpc>
                <a:spcPct val="104000"/>
              </a:lnSpc>
              <a:buNone/>
            </a:pPr>
            <a:r>
              <a:rPr lang="en-US" sz="1600" kern="0" spc="-33" dirty="0">
                <a:solidFill>
                  <a:srgbClr val="3A3A3A"/>
                </a:solidFill>
                <a:latin typeface="Noto Serif Medium" pitchFamily="34" charset="0"/>
                <a:ea typeface="Noto Serif Medium" pitchFamily="34" charset="-122"/>
                <a:cs typeface="Noto Serif Medium" pitchFamily="34" charset="-120"/>
              </a:rPr>
              <a:t>Proposed System Architecture</a:t>
            </a:r>
            <a:endParaRPr lang="en-US" sz="1600" dirty="0"/>
          </a:p>
        </p:txBody>
      </p:sp>
      <p:sp>
        <p:nvSpPr>
          <p:cNvPr id="3" name="Text 1"/>
          <p:cNvSpPr/>
          <p:nvPr/>
        </p:nvSpPr>
        <p:spPr>
          <a:xfrm>
            <a:off x="661475" y="795933"/>
            <a:ext cx="11478330" cy="99120"/>
          </a:xfrm>
          <a:prstGeom prst="rect">
            <a:avLst/>
          </a:prstGeom>
          <a:noFill/>
          <a:ln/>
        </p:spPr>
        <p:txBody>
          <a:bodyPr wrap="none" lIns="0" tIns="0" rIns="0" bIns="0" rtlCol="0" anchor="t"/>
          <a:lstStyle/>
          <a:p>
            <a:pPr marL="0" indent="0" algn="l">
              <a:lnSpc>
                <a:spcPct val="100000"/>
              </a:lnSpc>
              <a:buNone/>
            </a:pPr>
            <a:r>
              <a:rPr lang="en-US" sz="650" dirty="0">
                <a:solidFill>
                  <a:srgbClr val="4C4C4C"/>
                </a:solidFill>
                <a:latin typeface="Noto Serif" pitchFamily="34" charset="0"/>
                <a:ea typeface="Noto Serif" pitchFamily="34" charset="-122"/>
                <a:cs typeface="Noto Serif" pitchFamily="34" charset="-120"/>
              </a:rPr>
              <a:t>The proposed system follows a structured end-to-end data flow, from raw sensor readings through intelligent anomaly detection to actionable alerts and maintenance support.</a:t>
            </a:r>
            <a:endParaRPr lang="en-US" sz="650" dirty="0"/>
          </a:p>
        </p:txBody>
      </p:sp>
      <p:pic>
        <p:nvPicPr>
          <p:cNvPr id="4" name="Image 0" descr="preencoded.png"/>
          <p:cNvPicPr>
            <a:picLocks noChangeAspect="1"/>
          </p:cNvPicPr>
          <p:nvPr/>
        </p:nvPicPr>
        <p:blipFill>
          <a:blip r:embed="rId3"/>
          <a:stretch>
            <a:fillRect/>
          </a:stretch>
        </p:blipFill>
        <p:spPr>
          <a:xfrm>
            <a:off x="1247645" y="941487"/>
            <a:ext cx="9696406" cy="5298678"/>
          </a:xfrm>
          <a:prstGeom prst="rect">
            <a:avLst/>
          </a:prstGeom>
        </p:spPr>
      </p:pic>
      <p:sp>
        <p:nvSpPr>
          <p:cNvPr id="5" name="Text 2"/>
          <p:cNvSpPr/>
          <p:nvPr/>
        </p:nvSpPr>
        <p:spPr>
          <a:xfrm>
            <a:off x="2526245" y="3424232"/>
            <a:ext cx="2246753" cy="305688"/>
          </a:xfrm>
          <a:prstGeom prst="rect">
            <a:avLst/>
          </a:prstGeom>
          <a:noFill/>
          <a:ln/>
        </p:spPr>
        <p:txBody>
          <a:bodyPr wrap="none" lIns="0" tIns="0" rIns="0" bIns="0" rtlCol="0" anchor="t"/>
          <a:lstStyle/>
          <a:p>
            <a:pPr marL="0" indent="0" algn="ctr">
              <a:lnSpc>
                <a:spcPct val="104000"/>
              </a:lnSpc>
              <a:buNone/>
            </a:pPr>
            <a:r>
              <a:rPr lang="en-US" sz="1900" kern="0" spc="-39" dirty="0">
                <a:solidFill>
                  <a:srgbClr val="3A3A3A"/>
                </a:solidFill>
                <a:latin typeface="Noto Serif Medium" pitchFamily="34" charset="0"/>
                <a:ea typeface="Noto Serif Medium" pitchFamily="34" charset="-122"/>
                <a:cs typeface="Noto Serif Medium" pitchFamily="34" charset="-120"/>
              </a:rPr>
              <a:t>Data Ingestion</a:t>
            </a:r>
            <a:endParaRPr lang="en-US" sz="1900" dirty="0"/>
          </a:p>
        </p:txBody>
      </p:sp>
      <p:sp>
        <p:nvSpPr>
          <p:cNvPr id="6" name="Text 3"/>
          <p:cNvSpPr/>
          <p:nvPr/>
        </p:nvSpPr>
        <p:spPr>
          <a:xfrm>
            <a:off x="8199678" y="3389757"/>
            <a:ext cx="2246753" cy="305688"/>
          </a:xfrm>
          <a:prstGeom prst="rect">
            <a:avLst/>
          </a:prstGeom>
          <a:noFill/>
          <a:ln/>
        </p:spPr>
        <p:txBody>
          <a:bodyPr wrap="none" lIns="0" tIns="0" rIns="0" bIns="0" rtlCol="0" anchor="t"/>
          <a:lstStyle/>
          <a:p>
            <a:pPr marL="0" indent="0" algn="ctr">
              <a:lnSpc>
                <a:spcPct val="104000"/>
              </a:lnSpc>
              <a:buNone/>
            </a:pPr>
            <a:r>
              <a:rPr lang="en-US" sz="1900" kern="0" spc="-39" dirty="0">
                <a:solidFill>
                  <a:srgbClr val="3A3A3A"/>
                </a:solidFill>
                <a:latin typeface="Noto Serif Medium" pitchFamily="34" charset="0"/>
                <a:ea typeface="Noto Serif Medium" pitchFamily="34" charset="-122"/>
                <a:cs typeface="Noto Serif Medium" pitchFamily="34" charset="-120"/>
              </a:rPr>
              <a:t>Anomaly Detection</a:t>
            </a:r>
            <a:endParaRPr lang="en-US" sz="1900" dirty="0"/>
          </a:p>
        </p:txBody>
      </p:sp>
      <p:sp>
        <p:nvSpPr>
          <p:cNvPr id="7" name="Text 4"/>
          <p:cNvSpPr/>
          <p:nvPr/>
        </p:nvSpPr>
        <p:spPr>
          <a:xfrm>
            <a:off x="5428174" y="3247952"/>
            <a:ext cx="2246753" cy="611377"/>
          </a:xfrm>
          <a:prstGeom prst="rect">
            <a:avLst/>
          </a:prstGeom>
          <a:noFill/>
          <a:ln/>
        </p:spPr>
        <p:txBody>
          <a:bodyPr wrap="square" lIns="0" tIns="0" rIns="0" bIns="0" rtlCol="0" anchor="t">
            <a:normAutofit/>
          </a:bodyPr>
          <a:lstStyle/>
          <a:p>
            <a:pPr marL="0" indent="0" algn="ctr">
              <a:lnSpc>
                <a:spcPct val="104000"/>
              </a:lnSpc>
              <a:buNone/>
            </a:pPr>
            <a:r>
              <a:rPr lang="en-US" sz="1900" kern="0" spc="-39" dirty="0">
                <a:solidFill>
                  <a:srgbClr val="3A3A3A"/>
                </a:solidFill>
                <a:latin typeface="Noto Serif Medium" pitchFamily="34" charset="0"/>
                <a:ea typeface="Noto Serif Medium" pitchFamily="34" charset="-122"/>
                <a:cs typeface="Noto Serif Medium" pitchFamily="34" charset="-120"/>
              </a:rPr>
              <a:t>Action &amp; Maintenance</a:t>
            </a:r>
            <a:endParaRPr lang="en-US" sz="1900" dirty="0"/>
          </a:p>
        </p:txBody>
      </p:sp>
      <p:sp>
        <p:nvSpPr>
          <p:cNvPr id="8" name="Text 5"/>
          <p:cNvSpPr/>
          <p:nvPr/>
        </p:nvSpPr>
        <p:spPr>
          <a:xfrm>
            <a:off x="661475" y="6327874"/>
            <a:ext cx="5333569" cy="129183"/>
          </a:xfrm>
          <a:prstGeom prst="rect">
            <a:avLst/>
          </a:prstGeom>
          <a:noFill/>
          <a:ln/>
        </p:spPr>
        <p:txBody>
          <a:bodyPr wrap="none" lIns="0" tIns="0" rIns="0" bIns="0" rtlCol="0" anchor="t"/>
          <a:lstStyle/>
          <a:p>
            <a:pPr marL="0" indent="0" algn="l">
              <a:lnSpc>
                <a:spcPct val="104000"/>
              </a:lnSpc>
              <a:buNone/>
            </a:pPr>
            <a:r>
              <a:rPr lang="en-US" sz="800" kern="0" spc="-16" dirty="0">
                <a:solidFill>
                  <a:srgbClr val="3A3A3A"/>
                </a:solidFill>
                <a:latin typeface="Noto Serif Medium" pitchFamily="34" charset="0"/>
                <a:ea typeface="Noto Serif Medium" pitchFamily="34" charset="-122"/>
                <a:cs typeface="Noto Serif Medium" pitchFamily="34" charset="-120"/>
              </a:rPr>
              <a:t>Sensor Data Sources</a:t>
            </a:r>
            <a:endParaRPr lang="en-US" sz="800" dirty="0"/>
          </a:p>
        </p:txBody>
      </p:sp>
      <p:sp>
        <p:nvSpPr>
          <p:cNvPr id="9" name="Text 6"/>
          <p:cNvSpPr/>
          <p:nvPr/>
        </p:nvSpPr>
        <p:spPr>
          <a:xfrm>
            <a:off x="661475" y="6498332"/>
            <a:ext cx="5333569" cy="198239"/>
          </a:xfrm>
          <a:prstGeom prst="rect">
            <a:avLst/>
          </a:prstGeom>
          <a:noFill/>
          <a:ln/>
        </p:spPr>
        <p:txBody>
          <a:bodyPr wrap="square" lIns="0" tIns="0" rIns="0" bIns="0" rtlCol="0" anchor="t">
            <a:normAutofit/>
          </a:bodyPr>
          <a:lstStyle/>
          <a:p>
            <a:pPr marL="0" indent="0" algn="l">
              <a:lnSpc>
                <a:spcPct val="100000"/>
              </a:lnSpc>
              <a:buNone/>
            </a:pPr>
            <a:r>
              <a:rPr lang="en-US" sz="650" dirty="0">
                <a:solidFill>
                  <a:srgbClr val="4C4C4C"/>
                </a:solidFill>
                <a:latin typeface="Noto Serif" pitchFamily="34" charset="0"/>
                <a:ea typeface="Noto Serif" pitchFamily="34" charset="-122"/>
                <a:cs typeface="Noto Serif" pitchFamily="34" charset="-120"/>
              </a:rPr>
              <a:t>IoT sensors generate real-time readings across five key parameters: </a:t>
            </a:r>
            <a:r>
              <a:rPr lang="en-US" sz="650" b="1" dirty="0">
                <a:solidFill>
                  <a:srgbClr val="4C4C4C"/>
                </a:solidFill>
                <a:latin typeface="Noto Serif Bold" pitchFamily="34" charset="0"/>
                <a:ea typeface="Noto Serif Bold" pitchFamily="34" charset="-122"/>
                <a:cs typeface="Noto Serif Bold" pitchFamily="34" charset="-120"/>
              </a:rPr>
              <a:t>temperature, humidity, pressure, vibration,</a:t>
            </a:r>
            <a:r>
              <a:rPr lang="en-US" sz="650" dirty="0">
                <a:solidFill>
                  <a:srgbClr val="4C4C4C"/>
                </a:solidFill>
                <a:latin typeface="Noto Serif" pitchFamily="34" charset="0"/>
                <a:ea typeface="Noto Serif" pitchFamily="34" charset="-122"/>
                <a:cs typeface="Noto Serif" pitchFamily="34" charset="-120"/>
              </a:rPr>
              <a:t> and </a:t>
            </a:r>
            <a:r>
              <a:rPr lang="en-US" sz="650" b="1" dirty="0">
                <a:solidFill>
                  <a:srgbClr val="4C4C4C"/>
                </a:solidFill>
                <a:latin typeface="Noto Serif Bold" pitchFamily="34" charset="0"/>
                <a:ea typeface="Noto Serif Bold" pitchFamily="34" charset="-122"/>
                <a:cs typeface="Noto Serif Bold" pitchFamily="34" charset="-120"/>
              </a:rPr>
              <a:t>energy consumption</a:t>
            </a:r>
            <a:r>
              <a:rPr lang="en-US" sz="650" dirty="0">
                <a:solidFill>
                  <a:srgbClr val="4C4C4C"/>
                </a:solidFill>
                <a:latin typeface="Noto Serif" pitchFamily="34" charset="0"/>
                <a:ea typeface="Noto Serif" pitchFamily="34" charset="-122"/>
                <a:cs typeface="Noto Serif" pitchFamily="34" charset="-120"/>
              </a:rPr>
              <a:t>. Data is transmitted continuously to the processing platform.</a:t>
            </a:r>
            <a:endParaRPr lang="en-US" sz="650" dirty="0"/>
          </a:p>
        </p:txBody>
      </p:sp>
      <p:sp>
        <p:nvSpPr>
          <p:cNvPr id="10" name="Text 7"/>
          <p:cNvSpPr/>
          <p:nvPr/>
        </p:nvSpPr>
        <p:spPr>
          <a:xfrm>
            <a:off x="661475" y="6737846"/>
            <a:ext cx="5333569" cy="129183"/>
          </a:xfrm>
          <a:prstGeom prst="rect">
            <a:avLst/>
          </a:prstGeom>
          <a:noFill/>
          <a:ln/>
        </p:spPr>
        <p:txBody>
          <a:bodyPr wrap="none" lIns="0" tIns="0" rIns="0" bIns="0" rtlCol="0" anchor="t"/>
          <a:lstStyle/>
          <a:p>
            <a:pPr marL="0" indent="0" algn="l">
              <a:lnSpc>
                <a:spcPct val="104000"/>
              </a:lnSpc>
              <a:buNone/>
            </a:pPr>
            <a:r>
              <a:rPr lang="en-US" sz="800" kern="0" spc="-16" dirty="0">
                <a:solidFill>
                  <a:srgbClr val="3A3A3A"/>
                </a:solidFill>
                <a:latin typeface="Noto Serif Medium" pitchFamily="34" charset="0"/>
                <a:ea typeface="Noto Serif Medium" pitchFamily="34" charset="-122"/>
                <a:cs typeface="Noto Serif Medium" pitchFamily="34" charset="-120"/>
              </a:rPr>
              <a:t>Preprocessing and Feature Preparation</a:t>
            </a:r>
            <a:endParaRPr lang="en-US" sz="800" dirty="0"/>
          </a:p>
        </p:txBody>
      </p:sp>
      <p:sp>
        <p:nvSpPr>
          <p:cNvPr id="11" name="Text 8"/>
          <p:cNvSpPr/>
          <p:nvPr/>
        </p:nvSpPr>
        <p:spPr>
          <a:xfrm>
            <a:off x="661475" y="6908304"/>
            <a:ext cx="5333569" cy="198239"/>
          </a:xfrm>
          <a:prstGeom prst="rect">
            <a:avLst/>
          </a:prstGeom>
          <a:noFill/>
          <a:ln/>
        </p:spPr>
        <p:txBody>
          <a:bodyPr wrap="square" lIns="0" tIns="0" rIns="0" bIns="0" rtlCol="0" anchor="t">
            <a:normAutofit/>
          </a:bodyPr>
          <a:lstStyle/>
          <a:p>
            <a:pPr marL="0" indent="0" algn="l">
              <a:lnSpc>
                <a:spcPct val="100000"/>
              </a:lnSpc>
              <a:buNone/>
            </a:pPr>
            <a:r>
              <a:rPr lang="en-US" sz="650" dirty="0">
                <a:solidFill>
                  <a:srgbClr val="4C4C4C"/>
                </a:solidFill>
                <a:latin typeface="Noto Serif" pitchFamily="34" charset="0"/>
                <a:ea typeface="Noto Serif" pitchFamily="34" charset="-122"/>
                <a:cs typeface="Noto Serif" pitchFamily="34" charset="-120"/>
              </a:rPr>
              <a:t>Incoming data undergoes validation, handling of missing values, normalization, and chronological organization before being prepared as feature inputs for the machine learning model.</a:t>
            </a:r>
            <a:endParaRPr lang="en-US" sz="650" dirty="0"/>
          </a:p>
        </p:txBody>
      </p:sp>
      <p:sp>
        <p:nvSpPr>
          <p:cNvPr id="12" name="Text 9"/>
          <p:cNvSpPr/>
          <p:nvPr/>
        </p:nvSpPr>
        <p:spPr>
          <a:xfrm>
            <a:off x="6203001" y="6327874"/>
            <a:ext cx="5333569" cy="129183"/>
          </a:xfrm>
          <a:prstGeom prst="rect">
            <a:avLst/>
          </a:prstGeom>
          <a:noFill/>
          <a:ln/>
        </p:spPr>
        <p:txBody>
          <a:bodyPr wrap="none" lIns="0" tIns="0" rIns="0" bIns="0" rtlCol="0" anchor="t"/>
          <a:lstStyle/>
          <a:p>
            <a:pPr marL="0" indent="0" algn="l">
              <a:lnSpc>
                <a:spcPct val="104000"/>
              </a:lnSpc>
              <a:buNone/>
            </a:pPr>
            <a:r>
              <a:rPr lang="en-US" sz="800" kern="0" spc="-16" dirty="0">
                <a:solidFill>
                  <a:srgbClr val="3A3A3A"/>
                </a:solidFill>
                <a:latin typeface="Noto Serif Medium" pitchFamily="34" charset="0"/>
                <a:ea typeface="Noto Serif Medium" pitchFamily="34" charset="-122"/>
                <a:cs typeface="Noto Serif Medium" pitchFamily="34" charset="-120"/>
              </a:rPr>
              <a:t>Detection and Alerting</a:t>
            </a:r>
            <a:endParaRPr lang="en-US" sz="800" dirty="0"/>
          </a:p>
        </p:txBody>
      </p:sp>
      <p:sp>
        <p:nvSpPr>
          <p:cNvPr id="13" name="Text 10"/>
          <p:cNvSpPr/>
          <p:nvPr/>
        </p:nvSpPr>
        <p:spPr>
          <a:xfrm>
            <a:off x="6203001" y="6498332"/>
            <a:ext cx="5333569" cy="198239"/>
          </a:xfrm>
          <a:prstGeom prst="rect">
            <a:avLst/>
          </a:prstGeom>
          <a:noFill/>
          <a:ln/>
        </p:spPr>
        <p:txBody>
          <a:bodyPr wrap="square" lIns="0" tIns="0" rIns="0" bIns="0" rtlCol="0" anchor="t">
            <a:normAutofit/>
          </a:bodyPr>
          <a:lstStyle/>
          <a:p>
            <a:pPr marL="0" indent="0" algn="l">
              <a:lnSpc>
                <a:spcPct val="100000"/>
              </a:lnSpc>
              <a:buNone/>
            </a:pPr>
            <a:r>
              <a:rPr lang="en-US" sz="650" dirty="0">
                <a:solidFill>
                  <a:srgbClr val="4C4C4C"/>
                </a:solidFill>
                <a:latin typeface="Noto Serif" pitchFamily="34" charset="0"/>
                <a:ea typeface="Noto Serif" pitchFamily="34" charset="-122"/>
                <a:cs typeface="Noto Serif" pitchFamily="34" charset="-120"/>
              </a:rPr>
              <a:t>The ML model identifies normal versus anomalous patterns, assigns anomaly scores, and triggers real-time alerts for detected deviations. Alerts are prioritized by severity score.</a:t>
            </a:r>
            <a:endParaRPr lang="en-US" sz="650" dirty="0"/>
          </a:p>
        </p:txBody>
      </p:sp>
      <p:sp>
        <p:nvSpPr>
          <p:cNvPr id="14" name="Text 11"/>
          <p:cNvSpPr/>
          <p:nvPr/>
        </p:nvSpPr>
        <p:spPr>
          <a:xfrm>
            <a:off x="6203001" y="6737846"/>
            <a:ext cx="5333569" cy="129183"/>
          </a:xfrm>
          <a:prstGeom prst="rect">
            <a:avLst/>
          </a:prstGeom>
          <a:noFill/>
          <a:ln/>
        </p:spPr>
        <p:txBody>
          <a:bodyPr wrap="none" lIns="0" tIns="0" rIns="0" bIns="0" rtlCol="0" anchor="t"/>
          <a:lstStyle/>
          <a:p>
            <a:pPr marL="0" indent="0" algn="l">
              <a:lnSpc>
                <a:spcPct val="104000"/>
              </a:lnSpc>
              <a:buNone/>
            </a:pPr>
            <a:r>
              <a:rPr lang="en-US" sz="800" kern="0" spc="-16" dirty="0">
                <a:solidFill>
                  <a:srgbClr val="3A3A3A"/>
                </a:solidFill>
                <a:latin typeface="Noto Serif Medium" pitchFamily="34" charset="0"/>
                <a:ea typeface="Noto Serif Medium" pitchFamily="34" charset="-122"/>
                <a:cs typeface="Noto Serif Medium" pitchFamily="34" charset="-120"/>
              </a:rPr>
              <a:t>Dashboard and Maintenance</a:t>
            </a:r>
            <a:endParaRPr lang="en-US" sz="800" dirty="0"/>
          </a:p>
        </p:txBody>
      </p:sp>
      <p:sp>
        <p:nvSpPr>
          <p:cNvPr id="15" name="Text 12"/>
          <p:cNvSpPr/>
          <p:nvPr/>
        </p:nvSpPr>
        <p:spPr>
          <a:xfrm>
            <a:off x="6203001" y="6908304"/>
            <a:ext cx="5333569" cy="198239"/>
          </a:xfrm>
          <a:prstGeom prst="rect">
            <a:avLst/>
          </a:prstGeom>
          <a:noFill/>
          <a:ln/>
        </p:spPr>
        <p:txBody>
          <a:bodyPr wrap="square" lIns="0" tIns="0" rIns="0" bIns="0" rtlCol="0" anchor="t">
            <a:normAutofit/>
          </a:bodyPr>
          <a:lstStyle/>
          <a:p>
            <a:pPr marL="0" indent="0" algn="l">
              <a:lnSpc>
                <a:spcPct val="100000"/>
              </a:lnSpc>
              <a:buNone/>
            </a:pPr>
            <a:r>
              <a:rPr lang="en-US" sz="650" dirty="0">
                <a:solidFill>
                  <a:srgbClr val="4C4C4C"/>
                </a:solidFill>
                <a:latin typeface="Noto Serif" pitchFamily="34" charset="0"/>
                <a:ea typeface="Noto Serif" pitchFamily="34" charset="-122"/>
                <a:cs typeface="Noto Serif" pitchFamily="34" charset="-120"/>
              </a:rPr>
              <a:t>An interactive dashboard displays sensor health, anomaly alerts, and historical trends. Detected anomalies support proactive maintenance investigation — though the system identifies unusual behavior rather than automatically diagnosing root causes.</a:t>
            </a:r>
            <a:endParaRPr lang="en-US" sz="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538361"/>
            <a:ext cx="10868745" cy="363339"/>
          </a:xfrm>
          <a:prstGeom prst="rect">
            <a:avLst/>
          </a:prstGeom>
          <a:noFill/>
          <a:ln/>
        </p:spPr>
        <p:txBody>
          <a:bodyPr wrap="none" lIns="0" tIns="0" rIns="0" bIns="0" rtlCol="0" anchor="t"/>
          <a:lstStyle/>
          <a:p>
            <a:pPr marL="0" indent="0" algn="l">
              <a:lnSpc>
                <a:spcPct val="104000"/>
              </a:lnSpc>
              <a:buNone/>
            </a:pPr>
            <a:r>
              <a:rPr lang="en-US" sz="2250" kern="0" spc="-46" dirty="0">
                <a:solidFill>
                  <a:srgbClr val="3A3A3A"/>
                </a:solidFill>
                <a:latin typeface="Noto Serif Medium" pitchFamily="34" charset="0"/>
                <a:ea typeface="Noto Serif Medium" pitchFamily="34" charset="-122"/>
                <a:cs typeface="Noto Serif Medium" pitchFamily="34" charset="-120"/>
              </a:rPr>
              <a:t>System Objectives and Sensor Data Types</a:t>
            </a:r>
            <a:endParaRPr lang="en-US" sz="2250" dirty="0"/>
          </a:p>
        </p:txBody>
      </p:sp>
      <p:sp>
        <p:nvSpPr>
          <p:cNvPr id="3" name="Shape 1"/>
          <p:cNvSpPr/>
          <p:nvPr/>
        </p:nvSpPr>
        <p:spPr>
          <a:xfrm>
            <a:off x="577836" y="1024334"/>
            <a:ext cx="5459871" cy="5295205"/>
          </a:xfrm>
          <a:prstGeom prst="roundRect">
            <a:avLst>
              <a:gd name="adj" fmla="val 1581"/>
            </a:avLst>
          </a:prstGeom>
          <a:solidFill>
            <a:srgbClr val="6F7F71"/>
          </a:solidFill>
          <a:ln/>
        </p:spPr>
      </p:sp>
      <p:sp>
        <p:nvSpPr>
          <p:cNvPr id="4" name="Text 2"/>
          <p:cNvSpPr/>
          <p:nvPr/>
        </p:nvSpPr>
        <p:spPr>
          <a:xfrm>
            <a:off x="694117" y="1106091"/>
            <a:ext cx="5227308" cy="181670"/>
          </a:xfrm>
          <a:prstGeom prst="rect">
            <a:avLst/>
          </a:prstGeom>
          <a:noFill/>
          <a:ln/>
        </p:spPr>
        <p:txBody>
          <a:bodyPr wrap="none" lIns="0" tIns="0" rIns="0" bIns="0" rtlCol="0" anchor="t"/>
          <a:lstStyle/>
          <a:p>
            <a:pPr marL="0" indent="0" algn="l">
              <a:lnSpc>
                <a:spcPct val="104000"/>
              </a:lnSpc>
              <a:buNone/>
            </a:pPr>
            <a:r>
              <a:rPr lang="en-US" sz="1100" kern="0" spc="-23" dirty="0">
                <a:solidFill>
                  <a:srgbClr val="000000"/>
                </a:solidFill>
                <a:latin typeface="Noto Serif Medium" pitchFamily="34" charset="0"/>
                <a:ea typeface="Noto Serif Medium" pitchFamily="34" charset="-122"/>
                <a:cs typeface="Noto Serif Medium" pitchFamily="34" charset="-120"/>
              </a:rPr>
              <a:t>Core System Objectives</a:t>
            </a:r>
            <a:endParaRPr lang="en-US" sz="1100" dirty="0"/>
          </a:p>
        </p:txBody>
      </p:sp>
      <p:sp>
        <p:nvSpPr>
          <p:cNvPr id="5" name="Text 3"/>
          <p:cNvSpPr/>
          <p:nvPr/>
        </p:nvSpPr>
        <p:spPr>
          <a:xfrm>
            <a:off x="694117" y="1379736"/>
            <a:ext cx="232563" cy="145355"/>
          </a:xfrm>
          <a:prstGeom prst="rect">
            <a:avLst/>
          </a:prstGeom>
          <a:noFill/>
          <a:ln/>
        </p:spPr>
        <p:txBody>
          <a:bodyPr wrap="none" lIns="0" tIns="0" rIns="0" bIns="0" rtlCol="0" anchor="ctr"/>
          <a:lstStyle/>
          <a:p>
            <a:pPr marL="0" indent="0" algn="l">
              <a:lnSpc>
                <a:spcPct val="100000"/>
              </a:lnSpc>
              <a:buNone/>
            </a:pPr>
            <a:r>
              <a:rPr lang="en-US" sz="900" kern="0" spc="-18" dirty="0">
                <a:solidFill>
                  <a:srgbClr val="000000"/>
                </a:solidFill>
                <a:latin typeface="Noto Serif Light" pitchFamily="34" charset="0"/>
                <a:ea typeface="Noto Serif Light" pitchFamily="34" charset="-122"/>
                <a:cs typeface="Noto Serif Light" pitchFamily="34" charset="-120"/>
              </a:rPr>
              <a:t>01</a:t>
            </a:r>
            <a:endParaRPr lang="en-US" sz="900" dirty="0"/>
          </a:p>
        </p:txBody>
      </p:sp>
      <p:sp>
        <p:nvSpPr>
          <p:cNvPr id="6" name="Shape 4"/>
          <p:cNvSpPr/>
          <p:nvPr/>
        </p:nvSpPr>
        <p:spPr>
          <a:xfrm>
            <a:off x="694117" y="1564680"/>
            <a:ext cx="5227308" cy="12700"/>
          </a:xfrm>
          <a:prstGeom prst="rect">
            <a:avLst/>
          </a:prstGeom>
          <a:solidFill>
            <a:srgbClr val="E6DED2"/>
          </a:solidFill>
          <a:ln/>
        </p:spPr>
      </p:sp>
      <p:sp>
        <p:nvSpPr>
          <p:cNvPr id="7" name="Text 5"/>
          <p:cNvSpPr/>
          <p:nvPr/>
        </p:nvSpPr>
        <p:spPr>
          <a:xfrm>
            <a:off x="694117" y="1648222"/>
            <a:ext cx="5227308" cy="181670"/>
          </a:xfrm>
          <a:prstGeom prst="rect">
            <a:avLst/>
          </a:prstGeom>
          <a:noFill/>
          <a:ln/>
        </p:spPr>
        <p:txBody>
          <a:bodyPr wrap="none" lIns="0" tIns="0" rIns="0" bIns="0" rtlCol="0" anchor="t"/>
          <a:lstStyle/>
          <a:p>
            <a:pPr marL="0" indent="0" algn="l">
              <a:lnSpc>
                <a:spcPct val="104000"/>
              </a:lnSpc>
              <a:buNone/>
            </a:pPr>
            <a:r>
              <a:rPr lang="en-US" sz="1100" kern="0" spc="-23" dirty="0">
                <a:solidFill>
                  <a:srgbClr val="000000"/>
                </a:solidFill>
                <a:latin typeface="Noto Serif Medium" pitchFamily="34" charset="0"/>
                <a:ea typeface="Noto Serif Medium" pitchFamily="34" charset="-122"/>
                <a:cs typeface="Noto Serif Medium" pitchFamily="34" charset="-120"/>
              </a:rPr>
              <a:t>Collect and Process</a:t>
            </a:r>
            <a:endParaRPr lang="en-US" sz="1100" dirty="0"/>
          </a:p>
        </p:txBody>
      </p:sp>
      <p:sp>
        <p:nvSpPr>
          <p:cNvPr id="8" name="Text 6"/>
          <p:cNvSpPr/>
          <p:nvPr/>
        </p:nvSpPr>
        <p:spPr>
          <a:xfrm>
            <a:off x="694117" y="1911648"/>
            <a:ext cx="5227308" cy="158353"/>
          </a:xfrm>
          <a:prstGeom prst="rect">
            <a:avLst/>
          </a:prstGeom>
          <a:noFill/>
          <a:ln/>
        </p:spPr>
        <p:txBody>
          <a:bodyPr wrap="none" lIns="0" tIns="0" rIns="0" bIns="0" rtlCol="0" anchor="t"/>
          <a:lstStyle/>
          <a:p>
            <a:pPr marL="0" indent="0" algn="l">
              <a:lnSpc>
                <a:spcPct val="114000"/>
              </a:lnSpc>
              <a:buNone/>
            </a:pPr>
            <a:r>
              <a:rPr lang="en-US" sz="900" dirty="0">
                <a:solidFill>
                  <a:srgbClr val="000000"/>
                </a:solidFill>
                <a:latin typeface="Noto Serif" pitchFamily="34" charset="0"/>
                <a:ea typeface="Noto Serif" pitchFamily="34" charset="-122"/>
                <a:cs typeface="Noto Serif" pitchFamily="34" charset="-120"/>
              </a:rPr>
              <a:t>Automatically collect and process real-time IoT sensor data from multiple connected devices.</a:t>
            </a:r>
            <a:endParaRPr lang="en-US" sz="900" dirty="0"/>
          </a:p>
        </p:txBody>
      </p:sp>
      <p:sp>
        <p:nvSpPr>
          <p:cNvPr id="9" name="Text 7"/>
          <p:cNvSpPr/>
          <p:nvPr/>
        </p:nvSpPr>
        <p:spPr>
          <a:xfrm>
            <a:off x="694117" y="2238970"/>
            <a:ext cx="232563" cy="145355"/>
          </a:xfrm>
          <a:prstGeom prst="rect">
            <a:avLst/>
          </a:prstGeom>
          <a:noFill/>
          <a:ln/>
        </p:spPr>
        <p:txBody>
          <a:bodyPr wrap="none" lIns="0" tIns="0" rIns="0" bIns="0" rtlCol="0" anchor="ctr"/>
          <a:lstStyle/>
          <a:p>
            <a:pPr marL="0" indent="0" algn="l">
              <a:lnSpc>
                <a:spcPct val="100000"/>
              </a:lnSpc>
              <a:buNone/>
            </a:pPr>
            <a:r>
              <a:rPr lang="en-US" sz="900" kern="0" spc="-18" dirty="0">
                <a:solidFill>
                  <a:srgbClr val="000000"/>
                </a:solidFill>
                <a:latin typeface="Noto Serif Light" pitchFamily="34" charset="0"/>
                <a:ea typeface="Noto Serif Light" pitchFamily="34" charset="-122"/>
                <a:cs typeface="Noto Serif Light" pitchFamily="34" charset="-120"/>
              </a:rPr>
              <a:t>02</a:t>
            </a:r>
            <a:endParaRPr lang="en-US" sz="900" dirty="0"/>
          </a:p>
        </p:txBody>
      </p:sp>
      <p:sp>
        <p:nvSpPr>
          <p:cNvPr id="10" name="Shape 8"/>
          <p:cNvSpPr/>
          <p:nvPr/>
        </p:nvSpPr>
        <p:spPr>
          <a:xfrm>
            <a:off x="694117" y="2423914"/>
            <a:ext cx="5227308" cy="12700"/>
          </a:xfrm>
          <a:prstGeom prst="rect">
            <a:avLst/>
          </a:prstGeom>
          <a:solidFill>
            <a:srgbClr val="E6DED2"/>
          </a:solidFill>
          <a:ln/>
        </p:spPr>
      </p:sp>
      <p:sp>
        <p:nvSpPr>
          <p:cNvPr id="11" name="Text 9"/>
          <p:cNvSpPr/>
          <p:nvPr/>
        </p:nvSpPr>
        <p:spPr>
          <a:xfrm>
            <a:off x="694117" y="2507456"/>
            <a:ext cx="5227308" cy="181670"/>
          </a:xfrm>
          <a:prstGeom prst="rect">
            <a:avLst/>
          </a:prstGeom>
          <a:noFill/>
          <a:ln/>
        </p:spPr>
        <p:txBody>
          <a:bodyPr wrap="none" lIns="0" tIns="0" rIns="0" bIns="0" rtlCol="0" anchor="t"/>
          <a:lstStyle/>
          <a:p>
            <a:pPr marL="0" indent="0" algn="l">
              <a:lnSpc>
                <a:spcPct val="104000"/>
              </a:lnSpc>
              <a:buNone/>
            </a:pPr>
            <a:r>
              <a:rPr lang="en-US" sz="1100" kern="0" spc="-23" dirty="0">
                <a:solidFill>
                  <a:srgbClr val="000000"/>
                </a:solidFill>
                <a:latin typeface="Noto Serif Medium" pitchFamily="34" charset="0"/>
                <a:ea typeface="Noto Serif Medium" pitchFamily="34" charset="-122"/>
                <a:cs typeface="Noto Serif Medium" pitchFamily="34" charset="-120"/>
              </a:rPr>
              <a:t>Identify Anomalies</a:t>
            </a:r>
            <a:endParaRPr lang="en-US" sz="1100" dirty="0"/>
          </a:p>
        </p:txBody>
      </p:sp>
      <p:sp>
        <p:nvSpPr>
          <p:cNvPr id="12" name="Text 10"/>
          <p:cNvSpPr/>
          <p:nvPr/>
        </p:nvSpPr>
        <p:spPr>
          <a:xfrm>
            <a:off x="694117" y="2770882"/>
            <a:ext cx="5227308" cy="316706"/>
          </a:xfrm>
          <a:prstGeom prst="rect">
            <a:avLst/>
          </a:prstGeom>
          <a:noFill/>
          <a:ln/>
        </p:spPr>
        <p:txBody>
          <a:bodyPr wrap="square" lIns="0" tIns="0" rIns="0" bIns="0" rtlCol="0" anchor="t">
            <a:normAutofit/>
          </a:bodyPr>
          <a:lstStyle/>
          <a:p>
            <a:pPr marL="0" indent="0" algn="l">
              <a:lnSpc>
                <a:spcPct val="114000"/>
              </a:lnSpc>
              <a:buNone/>
            </a:pPr>
            <a:r>
              <a:rPr lang="en-US" sz="900" dirty="0">
                <a:solidFill>
                  <a:srgbClr val="000000"/>
                </a:solidFill>
                <a:latin typeface="Noto Serif" pitchFamily="34" charset="0"/>
                <a:ea typeface="Noto Serif" pitchFamily="34" charset="-122"/>
                <a:cs typeface="Noto Serif" pitchFamily="34" charset="-120"/>
              </a:rPr>
              <a:t>Identify abnormal sensor readings and unusual behavior patterns across all monitored parameters.</a:t>
            </a:r>
            <a:endParaRPr lang="en-US" sz="900" dirty="0"/>
          </a:p>
        </p:txBody>
      </p:sp>
      <p:sp>
        <p:nvSpPr>
          <p:cNvPr id="13" name="Text 11"/>
          <p:cNvSpPr/>
          <p:nvPr/>
        </p:nvSpPr>
        <p:spPr>
          <a:xfrm>
            <a:off x="694117" y="3256558"/>
            <a:ext cx="232563" cy="145355"/>
          </a:xfrm>
          <a:prstGeom prst="rect">
            <a:avLst/>
          </a:prstGeom>
          <a:noFill/>
          <a:ln/>
        </p:spPr>
        <p:txBody>
          <a:bodyPr wrap="none" lIns="0" tIns="0" rIns="0" bIns="0" rtlCol="0" anchor="ctr"/>
          <a:lstStyle/>
          <a:p>
            <a:pPr marL="0" indent="0" algn="l">
              <a:lnSpc>
                <a:spcPct val="100000"/>
              </a:lnSpc>
              <a:buNone/>
            </a:pPr>
            <a:r>
              <a:rPr lang="en-US" sz="900" kern="0" spc="-18" dirty="0">
                <a:solidFill>
                  <a:srgbClr val="000000"/>
                </a:solidFill>
                <a:latin typeface="Noto Serif Light" pitchFamily="34" charset="0"/>
                <a:ea typeface="Noto Serif Light" pitchFamily="34" charset="-122"/>
                <a:cs typeface="Noto Serif Light" pitchFamily="34" charset="-120"/>
              </a:rPr>
              <a:t>03</a:t>
            </a:r>
            <a:endParaRPr lang="en-US" sz="900" dirty="0"/>
          </a:p>
        </p:txBody>
      </p:sp>
      <p:sp>
        <p:nvSpPr>
          <p:cNvPr id="14" name="Shape 12"/>
          <p:cNvSpPr/>
          <p:nvPr/>
        </p:nvSpPr>
        <p:spPr>
          <a:xfrm>
            <a:off x="694117" y="3441502"/>
            <a:ext cx="5227308" cy="12700"/>
          </a:xfrm>
          <a:prstGeom prst="rect">
            <a:avLst/>
          </a:prstGeom>
          <a:solidFill>
            <a:srgbClr val="E6DED2"/>
          </a:solidFill>
          <a:ln/>
        </p:spPr>
      </p:sp>
      <p:sp>
        <p:nvSpPr>
          <p:cNvPr id="15" name="Text 13"/>
          <p:cNvSpPr/>
          <p:nvPr/>
        </p:nvSpPr>
        <p:spPr>
          <a:xfrm>
            <a:off x="694117" y="3525044"/>
            <a:ext cx="5227308" cy="181670"/>
          </a:xfrm>
          <a:prstGeom prst="rect">
            <a:avLst/>
          </a:prstGeom>
          <a:noFill/>
          <a:ln/>
        </p:spPr>
        <p:txBody>
          <a:bodyPr wrap="none" lIns="0" tIns="0" rIns="0" bIns="0" rtlCol="0" anchor="t"/>
          <a:lstStyle/>
          <a:p>
            <a:pPr marL="0" indent="0" algn="l">
              <a:lnSpc>
                <a:spcPct val="104000"/>
              </a:lnSpc>
              <a:buNone/>
            </a:pPr>
            <a:r>
              <a:rPr lang="en-US" sz="1100" kern="0" spc="-23" dirty="0">
                <a:solidFill>
                  <a:srgbClr val="000000"/>
                </a:solidFill>
                <a:latin typeface="Noto Serif Medium" pitchFamily="34" charset="0"/>
                <a:ea typeface="Noto Serif Medium" pitchFamily="34" charset="-122"/>
                <a:cs typeface="Noto Serif Medium" pitchFamily="34" charset="-120"/>
              </a:rPr>
              <a:t>Apply ML Detection</a:t>
            </a:r>
            <a:endParaRPr lang="en-US" sz="1100" dirty="0"/>
          </a:p>
        </p:txBody>
      </p:sp>
      <p:sp>
        <p:nvSpPr>
          <p:cNvPr id="16" name="Text 14"/>
          <p:cNvSpPr/>
          <p:nvPr/>
        </p:nvSpPr>
        <p:spPr>
          <a:xfrm>
            <a:off x="694117" y="3788470"/>
            <a:ext cx="5227308" cy="316706"/>
          </a:xfrm>
          <a:prstGeom prst="rect">
            <a:avLst/>
          </a:prstGeom>
          <a:noFill/>
          <a:ln/>
        </p:spPr>
        <p:txBody>
          <a:bodyPr wrap="square" lIns="0" tIns="0" rIns="0" bIns="0" rtlCol="0" anchor="t">
            <a:normAutofit/>
          </a:bodyPr>
          <a:lstStyle/>
          <a:p>
            <a:pPr marL="0" indent="0" algn="l">
              <a:lnSpc>
                <a:spcPct val="114000"/>
              </a:lnSpc>
              <a:buNone/>
            </a:pPr>
            <a:r>
              <a:rPr lang="en-US" sz="900" dirty="0">
                <a:solidFill>
                  <a:srgbClr val="000000"/>
                </a:solidFill>
                <a:latin typeface="Noto Serif" pitchFamily="34" charset="0"/>
                <a:ea typeface="Noto Serif" pitchFamily="34" charset="-122"/>
                <a:cs typeface="Noto Serif" pitchFamily="34" charset="-120"/>
              </a:rPr>
              <a:t>Apply machine learning for intelligent, adaptive anomaly detection without manual rule configuration.</a:t>
            </a:r>
            <a:endParaRPr lang="en-US" sz="900" dirty="0"/>
          </a:p>
        </p:txBody>
      </p:sp>
      <p:sp>
        <p:nvSpPr>
          <p:cNvPr id="17" name="Text 15"/>
          <p:cNvSpPr/>
          <p:nvPr/>
        </p:nvSpPr>
        <p:spPr>
          <a:xfrm>
            <a:off x="694117" y="4274145"/>
            <a:ext cx="232563" cy="145355"/>
          </a:xfrm>
          <a:prstGeom prst="rect">
            <a:avLst/>
          </a:prstGeom>
          <a:noFill/>
          <a:ln/>
        </p:spPr>
        <p:txBody>
          <a:bodyPr wrap="none" lIns="0" tIns="0" rIns="0" bIns="0" rtlCol="0" anchor="ctr"/>
          <a:lstStyle/>
          <a:p>
            <a:pPr marL="0" indent="0" algn="l">
              <a:lnSpc>
                <a:spcPct val="100000"/>
              </a:lnSpc>
              <a:buNone/>
            </a:pPr>
            <a:r>
              <a:rPr lang="en-US" sz="900" kern="0" spc="-18" dirty="0">
                <a:solidFill>
                  <a:srgbClr val="000000"/>
                </a:solidFill>
                <a:latin typeface="Noto Serif Light" pitchFamily="34" charset="0"/>
                <a:ea typeface="Noto Serif Light" pitchFamily="34" charset="-122"/>
                <a:cs typeface="Noto Serif Light" pitchFamily="34" charset="-120"/>
              </a:rPr>
              <a:t>04</a:t>
            </a:r>
            <a:endParaRPr lang="en-US" sz="900" dirty="0"/>
          </a:p>
        </p:txBody>
      </p:sp>
      <p:sp>
        <p:nvSpPr>
          <p:cNvPr id="18" name="Shape 16"/>
          <p:cNvSpPr/>
          <p:nvPr/>
        </p:nvSpPr>
        <p:spPr>
          <a:xfrm>
            <a:off x="694117" y="4459089"/>
            <a:ext cx="5227308" cy="12700"/>
          </a:xfrm>
          <a:prstGeom prst="rect">
            <a:avLst/>
          </a:prstGeom>
          <a:solidFill>
            <a:srgbClr val="E6DED2"/>
          </a:solidFill>
          <a:ln/>
        </p:spPr>
      </p:sp>
      <p:sp>
        <p:nvSpPr>
          <p:cNvPr id="19" name="Text 17"/>
          <p:cNvSpPr/>
          <p:nvPr/>
        </p:nvSpPr>
        <p:spPr>
          <a:xfrm>
            <a:off x="694117" y="4542631"/>
            <a:ext cx="5227308" cy="181670"/>
          </a:xfrm>
          <a:prstGeom prst="rect">
            <a:avLst/>
          </a:prstGeom>
          <a:noFill/>
          <a:ln/>
        </p:spPr>
        <p:txBody>
          <a:bodyPr wrap="none" lIns="0" tIns="0" rIns="0" bIns="0" rtlCol="0" anchor="t"/>
          <a:lstStyle/>
          <a:p>
            <a:pPr marL="0" indent="0" algn="l">
              <a:lnSpc>
                <a:spcPct val="104000"/>
              </a:lnSpc>
              <a:buNone/>
            </a:pPr>
            <a:r>
              <a:rPr lang="en-US" sz="1100" kern="0" spc="-23" dirty="0">
                <a:solidFill>
                  <a:srgbClr val="000000"/>
                </a:solidFill>
                <a:latin typeface="Noto Serif Medium" pitchFamily="34" charset="0"/>
                <a:ea typeface="Noto Serif Medium" pitchFamily="34" charset="-122"/>
                <a:cs typeface="Noto Serif Medium" pitchFamily="34" charset="-120"/>
              </a:rPr>
              <a:t>Alert and Monitor</a:t>
            </a:r>
            <a:endParaRPr lang="en-US" sz="1100" dirty="0"/>
          </a:p>
        </p:txBody>
      </p:sp>
      <p:sp>
        <p:nvSpPr>
          <p:cNvPr id="20" name="Text 18"/>
          <p:cNvSpPr/>
          <p:nvPr/>
        </p:nvSpPr>
        <p:spPr>
          <a:xfrm>
            <a:off x="694117" y="4806057"/>
            <a:ext cx="5227308" cy="316706"/>
          </a:xfrm>
          <a:prstGeom prst="rect">
            <a:avLst/>
          </a:prstGeom>
          <a:noFill/>
          <a:ln/>
        </p:spPr>
        <p:txBody>
          <a:bodyPr wrap="square" lIns="0" tIns="0" rIns="0" bIns="0" rtlCol="0" anchor="t">
            <a:normAutofit/>
          </a:bodyPr>
          <a:lstStyle/>
          <a:p>
            <a:pPr marL="0" indent="0" algn="l">
              <a:lnSpc>
                <a:spcPct val="114000"/>
              </a:lnSpc>
              <a:buNone/>
            </a:pPr>
            <a:r>
              <a:rPr lang="en-US" sz="900" dirty="0">
                <a:solidFill>
                  <a:srgbClr val="000000"/>
                </a:solidFill>
                <a:latin typeface="Noto Serif" pitchFamily="34" charset="0"/>
                <a:ea typeface="Noto Serif" pitchFamily="34" charset="-122"/>
                <a:cs typeface="Noto Serif" pitchFamily="34" charset="-120"/>
              </a:rPr>
              <a:t>Generate real-time anomaly alerts and continuously monitor sensor health across the network.</a:t>
            </a:r>
            <a:endParaRPr lang="en-US" sz="900" dirty="0"/>
          </a:p>
        </p:txBody>
      </p:sp>
      <p:sp>
        <p:nvSpPr>
          <p:cNvPr id="21" name="Text 19"/>
          <p:cNvSpPr/>
          <p:nvPr/>
        </p:nvSpPr>
        <p:spPr>
          <a:xfrm>
            <a:off x="694117" y="5291733"/>
            <a:ext cx="232563" cy="145355"/>
          </a:xfrm>
          <a:prstGeom prst="rect">
            <a:avLst/>
          </a:prstGeom>
          <a:noFill/>
          <a:ln/>
        </p:spPr>
        <p:txBody>
          <a:bodyPr wrap="none" lIns="0" tIns="0" rIns="0" bIns="0" rtlCol="0" anchor="ctr"/>
          <a:lstStyle/>
          <a:p>
            <a:pPr marL="0" indent="0" algn="l">
              <a:lnSpc>
                <a:spcPct val="100000"/>
              </a:lnSpc>
              <a:buNone/>
            </a:pPr>
            <a:r>
              <a:rPr lang="en-US" sz="900" kern="0" spc="-18" dirty="0">
                <a:solidFill>
                  <a:srgbClr val="000000"/>
                </a:solidFill>
                <a:latin typeface="Noto Serif Light" pitchFamily="34" charset="0"/>
                <a:ea typeface="Noto Serif Light" pitchFamily="34" charset="-122"/>
                <a:cs typeface="Noto Serif Light" pitchFamily="34" charset="-120"/>
              </a:rPr>
              <a:t>05</a:t>
            </a:r>
            <a:endParaRPr lang="en-US" sz="900" dirty="0"/>
          </a:p>
        </p:txBody>
      </p:sp>
      <p:sp>
        <p:nvSpPr>
          <p:cNvPr id="22" name="Shape 20"/>
          <p:cNvSpPr/>
          <p:nvPr/>
        </p:nvSpPr>
        <p:spPr>
          <a:xfrm>
            <a:off x="694117" y="5476677"/>
            <a:ext cx="5227308" cy="12700"/>
          </a:xfrm>
          <a:prstGeom prst="rect">
            <a:avLst/>
          </a:prstGeom>
          <a:solidFill>
            <a:srgbClr val="E6DED2"/>
          </a:solidFill>
          <a:ln/>
        </p:spPr>
      </p:sp>
      <p:sp>
        <p:nvSpPr>
          <p:cNvPr id="23" name="Text 21"/>
          <p:cNvSpPr/>
          <p:nvPr/>
        </p:nvSpPr>
        <p:spPr>
          <a:xfrm>
            <a:off x="694117" y="5560219"/>
            <a:ext cx="5227308" cy="181670"/>
          </a:xfrm>
          <a:prstGeom prst="rect">
            <a:avLst/>
          </a:prstGeom>
          <a:noFill/>
          <a:ln/>
        </p:spPr>
        <p:txBody>
          <a:bodyPr wrap="none" lIns="0" tIns="0" rIns="0" bIns="0" rtlCol="0" anchor="t"/>
          <a:lstStyle/>
          <a:p>
            <a:pPr marL="0" indent="0" algn="l">
              <a:lnSpc>
                <a:spcPct val="104000"/>
              </a:lnSpc>
              <a:buNone/>
            </a:pPr>
            <a:r>
              <a:rPr lang="en-US" sz="1100" kern="0" spc="-23" dirty="0">
                <a:solidFill>
                  <a:srgbClr val="000000"/>
                </a:solidFill>
                <a:latin typeface="Noto Serif Medium" pitchFamily="34" charset="0"/>
                <a:ea typeface="Noto Serif Medium" pitchFamily="34" charset="-122"/>
                <a:cs typeface="Noto Serif Medium" pitchFamily="34" charset="-120"/>
              </a:rPr>
              <a:t>Support Maintenance</a:t>
            </a:r>
            <a:endParaRPr lang="en-US" sz="1100" dirty="0"/>
          </a:p>
        </p:txBody>
      </p:sp>
      <p:sp>
        <p:nvSpPr>
          <p:cNvPr id="24" name="Text 22"/>
          <p:cNvSpPr/>
          <p:nvPr/>
        </p:nvSpPr>
        <p:spPr>
          <a:xfrm>
            <a:off x="694117" y="5823645"/>
            <a:ext cx="5227308" cy="316706"/>
          </a:xfrm>
          <a:prstGeom prst="rect">
            <a:avLst/>
          </a:prstGeom>
          <a:noFill/>
          <a:ln/>
        </p:spPr>
        <p:txBody>
          <a:bodyPr wrap="square" lIns="0" tIns="0" rIns="0" bIns="0" rtlCol="0" anchor="t">
            <a:normAutofit/>
          </a:bodyPr>
          <a:lstStyle/>
          <a:p>
            <a:pPr marL="0" indent="0" algn="l">
              <a:lnSpc>
                <a:spcPct val="114000"/>
              </a:lnSpc>
              <a:buNone/>
            </a:pPr>
            <a:r>
              <a:rPr lang="en-US" sz="900" dirty="0">
                <a:solidFill>
                  <a:srgbClr val="000000"/>
                </a:solidFill>
                <a:latin typeface="Noto Serif" pitchFamily="34" charset="0"/>
                <a:ea typeface="Noto Serif" pitchFamily="34" charset="-122"/>
                <a:cs typeface="Noto Serif" pitchFamily="34" charset="-120"/>
              </a:rPr>
              <a:t>Improve fault identification and support proactive maintenance planning based on detected anomalies.</a:t>
            </a:r>
            <a:endParaRPr lang="en-US" sz="900" dirty="0"/>
          </a:p>
        </p:txBody>
      </p:sp>
      <p:sp>
        <p:nvSpPr>
          <p:cNvPr id="25" name="Text 23"/>
          <p:cNvSpPr/>
          <p:nvPr/>
        </p:nvSpPr>
        <p:spPr>
          <a:xfrm>
            <a:off x="6243977" y="1106091"/>
            <a:ext cx="5292593" cy="181670"/>
          </a:xfrm>
          <a:prstGeom prst="rect">
            <a:avLst/>
          </a:prstGeom>
          <a:noFill/>
          <a:ln/>
        </p:spPr>
        <p:txBody>
          <a:bodyPr wrap="none" lIns="0" tIns="0" rIns="0" bIns="0" rtlCol="0" anchor="t"/>
          <a:lstStyle/>
          <a:p>
            <a:pPr marL="0" indent="0" algn="l">
              <a:lnSpc>
                <a:spcPct val="104000"/>
              </a:lnSpc>
              <a:buNone/>
            </a:pPr>
            <a:r>
              <a:rPr lang="en-US" sz="1100" kern="0" spc="-23" dirty="0">
                <a:solidFill>
                  <a:srgbClr val="3A3A3A"/>
                </a:solidFill>
                <a:latin typeface="Noto Serif Medium" pitchFamily="34" charset="0"/>
                <a:ea typeface="Noto Serif Medium" pitchFamily="34" charset="-122"/>
                <a:cs typeface="Noto Serif Medium" pitchFamily="34" charset="-120"/>
              </a:rPr>
              <a:t>Sensor Parameters Monitored</a:t>
            </a:r>
            <a:endParaRPr lang="en-US" sz="1100" dirty="0"/>
          </a:p>
        </p:txBody>
      </p:sp>
      <p:pic>
        <p:nvPicPr>
          <p:cNvPr id="2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243977" y="1379736"/>
            <a:ext cx="290704" cy="290711"/>
          </a:xfrm>
          <a:prstGeom prst="rect">
            <a:avLst/>
          </a:prstGeom>
        </p:spPr>
      </p:pic>
      <p:sp>
        <p:nvSpPr>
          <p:cNvPr id="27" name="Text 24"/>
          <p:cNvSpPr/>
          <p:nvPr/>
        </p:nvSpPr>
        <p:spPr>
          <a:xfrm>
            <a:off x="6636874" y="1379736"/>
            <a:ext cx="4899696" cy="181670"/>
          </a:xfrm>
          <a:prstGeom prst="rect">
            <a:avLst/>
          </a:prstGeom>
          <a:noFill/>
          <a:ln/>
        </p:spPr>
        <p:txBody>
          <a:bodyPr wrap="none" lIns="0" tIns="0" rIns="0" bIns="0" rtlCol="0" anchor="t"/>
          <a:lstStyle/>
          <a:p>
            <a:pPr marL="0" indent="0" algn="l">
              <a:lnSpc>
                <a:spcPct val="104000"/>
              </a:lnSpc>
              <a:buNone/>
            </a:pPr>
            <a:r>
              <a:rPr lang="en-US" sz="1100" kern="0" spc="-23" dirty="0">
                <a:solidFill>
                  <a:srgbClr val="4C4C4C"/>
                </a:solidFill>
                <a:latin typeface="Noto Serif Medium" pitchFamily="34" charset="0"/>
                <a:ea typeface="Noto Serif Medium" pitchFamily="34" charset="-122"/>
                <a:cs typeface="Noto Serif Medium" pitchFamily="34" charset="-120"/>
              </a:rPr>
              <a:t>Temperature</a:t>
            </a:r>
            <a:endParaRPr lang="en-US" sz="1100" dirty="0"/>
          </a:p>
        </p:txBody>
      </p:sp>
      <p:sp>
        <p:nvSpPr>
          <p:cNvPr id="28" name="Text 25"/>
          <p:cNvSpPr/>
          <p:nvPr/>
        </p:nvSpPr>
        <p:spPr>
          <a:xfrm>
            <a:off x="6636874" y="1643162"/>
            <a:ext cx="4899696" cy="316706"/>
          </a:xfrm>
          <a:prstGeom prst="rect">
            <a:avLst/>
          </a:prstGeom>
          <a:noFill/>
          <a:ln/>
        </p:spPr>
        <p:txBody>
          <a:bodyPr wrap="square" lIns="0" tIns="0" rIns="0" bIns="0" rtlCol="0" anchor="t">
            <a:normAutofit/>
          </a:bodyPr>
          <a:lstStyle/>
          <a:p>
            <a:pPr marL="0" indent="0" algn="l">
              <a:lnSpc>
                <a:spcPct val="114000"/>
              </a:lnSpc>
              <a:buNone/>
            </a:pPr>
            <a:r>
              <a:rPr lang="en-US" sz="900" dirty="0">
                <a:solidFill>
                  <a:srgbClr val="4C4C4C"/>
                </a:solidFill>
                <a:latin typeface="Noto Serif" pitchFamily="34" charset="0"/>
                <a:ea typeface="Noto Serif" pitchFamily="34" charset="-122"/>
                <a:cs typeface="Noto Serif" pitchFamily="34" charset="-120"/>
              </a:rPr>
              <a:t>Continuous monitoring for thermal anomalies indicating equipment stress or environmental changes.</a:t>
            </a:r>
            <a:endParaRPr lang="en-US" sz="900" dirty="0"/>
          </a:p>
        </p:txBody>
      </p:sp>
      <p:pic>
        <p:nvPicPr>
          <p:cNvPr id="29"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43977" y="2123380"/>
            <a:ext cx="290704" cy="290711"/>
          </a:xfrm>
          <a:prstGeom prst="rect">
            <a:avLst/>
          </a:prstGeom>
        </p:spPr>
      </p:pic>
      <p:sp>
        <p:nvSpPr>
          <p:cNvPr id="30" name="Text 26"/>
          <p:cNvSpPr/>
          <p:nvPr/>
        </p:nvSpPr>
        <p:spPr>
          <a:xfrm>
            <a:off x="6636874" y="2123380"/>
            <a:ext cx="4899696" cy="181670"/>
          </a:xfrm>
          <a:prstGeom prst="rect">
            <a:avLst/>
          </a:prstGeom>
          <a:noFill/>
          <a:ln/>
        </p:spPr>
        <p:txBody>
          <a:bodyPr wrap="none" lIns="0" tIns="0" rIns="0" bIns="0" rtlCol="0" anchor="t"/>
          <a:lstStyle/>
          <a:p>
            <a:pPr marL="0" indent="0" algn="l">
              <a:lnSpc>
                <a:spcPct val="104000"/>
              </a:lnSpc>
              <a:buNone/>
            </a:pPr>
            <a:r>
              <a:rPr lang="en-US" sz="1100" kern="0" spc="-23" dirty="0">
                <a:solidFill>
                  <a:srgbClr val="4C4C4C"/>
                </a:solidFill>
                <a:latin typeface="Noto Serif Medium" pitchFamily="34" charset="0"/>
                <a:ea typeface="Noto Serif Medium" pitchFamily="34" charset="-122"/>
                <a:cs typeface="Noto Serif Medium" pitchFamily="34" charset="-120"/>
              </a:rPr>
              <a:t>Humidity</a:t>
            </a:r>
            <a:endParaRPr lang="en-US" sz="1100" dirty="0"/>
          </a:p>
        </p:txBody>
      </p:sp>
      <p:sp>
        <p:nvSpPr>
          <p:cNvPr id="31" name="Text 27"/>
          <p:cNvSpPr/>
          <p:nvPr/>
        </p:nvSpPr>
        <p:spPr>
          <a:xfrm>
            <a:off x="6636874" y="2386806"/>
            <a:ext cx="4899696" cy="316706"/>
          </a:xfrm>
          <a:prstGeom prst="rect">
            <a:avLst/>
          </a:prstGeom>
          <a:noFill/>
          <a:ln/>
        </p:spPr>
        <p:txBody>
          <a:bodyPr wrap="square" lIns="0" tIns="0" rIns="0" bIns="0" rtlCol="0" anchor="t">
            <a:normAutofit/>
          </a:bodyPr>
          <a:lstStyle/>
          <a:p>
            <a:pPr marL="0" indent="0" algn="l">
              <a:lnSpc>
                <a:spcPct val="114000"/>
              </a:lnSpc>
              <a:buNone/>
            </a:pPr>
            <a:r>
              <a:rPr lang="en-US" sz="900" dirty="0">
                <a:solidFill>
                  <a:srgbClr val="4C4C4C"/>
                </a:solidFill>
                <a:latin typeface="Noto Serif" pitchFamily="34" charset="0"/>
                <a:ea typeface="Noto Serif" pitchFamily="34" charset="-122"/>
                <a:cs typeface="Noto Serif" pitchFamily="34" charset="-120"/>
              </a:rPr>
              <a:t>Tracks moisture levels; abnormal readings may indicate environmental hazards or sensor faults.</a:t>
            </a:r>
            <a:endParaRPr lang="en-US" sz="900" dirty="0"/>
          </a:p>
        </p:txBody>
      </p:sp>
      <p:pic>
        <p:nvPicPr>
          <p:cNvPr id="32"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243977" y="2867025"/>
            <a:ext cx="290704" cy="290711"/>
          </a:xfrm>
          <a:prstGeom prst="rect">
            <a:avLst/>
          </a:prstGeom>
        </p:spPr>
      </p:pic>
      <p:sp>
        <p:nvSpPr>
          <p:cNvPr id="33" name="Text 28"/>
          <p:cNvSpPr/>
          <p:nvPr/>
        </p:nvSpPr>
        <p:spPr>
          <a:xfrm>
            <a:off x="6636874" y="2867025"/>
            <a:ext cx="4899696" cy="181670"/>
          </a:xfrm>
          <a:prstGeom prst="rect">
            <a:avLst/>
          </a:prstGeom>
          <a:noFill/>
          <a:ln/>
        </p:spPr>
        <p:txBody>
          <a:bodyPr wrap="none" lIns="0" tIns="0" rIns="0" bIns="0" rtlCol="0" anchor="t"/>
          <a:lstStyle/>
          <a:p>
            <a:pPr marL="0" indent="0" algn="l">
              <a:lnSpc>
                <a:spcPct val="104000"/>
              </a:lnSpc>
              <a:buNone/>
            </a:pPr>
            <a:r>
              <a:rPr lang="en-US" sz="1100" kern="0" spc="-23" dirty="0">
                <a:solidFill>
                  <a:srgbClr val="4C4C4C"/>
                </a:solidFill>
                <a:latin typeface="Noto Serif Medium" pitchFamily="34" charset="0"/>
                <a:ea typeface="Noto Serif Medium" pitchFamily="34" charset="-122"/>
                <a:cs typeface="Noto Serif Medium" pitchFamily="34" charset="-120"/>
              </a:rPr>
              <a:t>Pressure</a:t>
            </a:r>
            <a:endParaRPr lang="en-US" sz="1100" dirty="0"/>
          </a:p>
        </p:txBody>
      </p:sp>
      <p:sp>
        <p:nvSpPr>
          <p:cNvPr id="34" name="Text 29"/>
          <p:cNvSpPr/>
          <p:nvPr/>
        </p:nvSpPr>
        <p:spPr>
          <a:xfrm>
            <a:off x="6636874" y="3130451"/>
            <a:ext cx="4899696" cy="158353"/>
          </a:xfrm>
          <a:prstGeom prst="rect">
            <a:avLst/>
          </a:prstGeom>
          <a:noFill/>
          <a:ln/>
        </p:spPr>
        <p:txBody>
          <a:bodyPr wrap="none" lIns="0" tIns="0" rIns="0" bIns="0" rtlCol="0" anchor="t"/>
          <a:lstStyle/>
          <a:p>
            <a:pPr marL="0" indent="0" algn="l">
              <a:lnSpc>
                <a:spcPct val="114000"/>
              </a:lnSpc>
              <a:buNone/>
            </a:pPr>
            <a:r>
              <a:rPr lang="en-US" sz="900" dirty="0">
                <a:solidFill>
                  <a:srgbClr val="4C4C4C"/>
                </a:solidFill>
                <a:latin typeface="Noto Serif" pitchFamily="34" charset="0"/>
                <a:ea typeface="Noto Serif" pitchFamily="34" charset="-122"/>
                <a:cs typeface="Noto Serif" pitchFamily="34" charset="-120"/>
              </a:rPr>
              <a:t>Monitors pressure variations that may signal mechanical issues or system leaks.</a:t>
            </a:r>
            <a:endParaRPr lang="en-US" sz="900" dirty="0"/>
          </a:p>
        </p:txBody>
      </p:sp>
      <p:pic>
        <p:nvPicPr>
          <p:cNvPr id="35"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243977" y="3452316"/>
            <a:ext cx="290704" cy="290711"/>
          </a:xfrm>
          <a:prstGeom prst="rect">
            <a:avLst/>
          </a:prstGeom>
        </p:spPr>
      </p:pic>
      <p:sp>
        <p:nvSpPr>
          <p:cNvPr id="36" name="Text 30"/>
          <p:cNvSpPr/>
          <p:nvPr/>
        </p:nvSpPr>
        <p:spPr>
          <a:xfrm>
            <a:off x="6636874" y="3452316"/>
            <a:ext cx="4899696" cy="181670"/>
          </a:xfrm>
          <a:prstGeom prst="rect">
            <a:avLst/>
          </a:prstGeom>
          <a:noFill/>
          <a:ln/>
        </p:spPr>
        <p:txBody>
          <a:bodyPr wrap="none" lIns="0" tIns="0" rIns="0" bIns="0" rtlCol="0" anchor="t"/>
          <a:lstStyle/>
          <a:p>
            <a:pPr marL="0" indent="0" algn="l">
              <a:lnSpc>
                <a:spcPct val="104000"/>
              </a:lnSpc>
              <a:buNone/>
            </a:pPr>
            <a:r>
              <a:rPr lang="en-US" sz="1100" kern="0" spc="-23" dirty="0">
                <a:solidFill>
                  <a:srgbClr val="4C4C4C"/>
                </a:solidFill>
                <a:latin typeface="Noto Serif Medium" pitchFamily="34" charset="0"/>
                <a:ea typeface="Noto Serif Medium" pitchFamily="34" charset="-122"/>
                <a:cs typeface="Noto Serif Medium" pitchFamily="34" charset="-120"/>
              </a:rPr>
              <a:t>Vibration &amp; Energy</a:t>
            </a:r>
            <a:endParaRPr lang="en-US" sz="1100" dirty="0"/>
          </a:p>
        </p:txBody>
      </p:sp>
      <p:sp>
        <p:nvSpPr>
          <p:cNvPr id="37" name="Text 31"/>
          <p:cNvSpPr/>
          <p:nvPr/>
        </p:nvSpPr>
        <p:spPr>
          <a:xfrm>
            <a:off x="6636874" y="3715742"/>
            <a:ext cx="4899696" cy="316706"/>
          </a:xfrm>
          <a:prstGeom prst="rect">
            <a:avLst/>
          </a:prstGeom>
          <a:noFill/>
          <a:ln/>
        </p:spPr>
        <p:txBody>
          <a:bodyPr wrap="square" lIns="0" tIns="0" rIns="0" bIns="0" rtlCol="0" anchor="t">
            <a:normAutofit/>
          </a:bodyPr>
          <a:lstStyle/>
          <a:p>
            <a:pPr marL="0" indent="0" algn="l">
              <a:lnSpc>
                <a:spcPct val="114000"/>
              </a:lnSpc>
              <a:buNone/>
            </a:pPr>
            <a:r>
              <a:rPr lang="en-US" sz="900" dirty="0">
                <a:solidFill>
                  <a:srgbClr val="4C4C4C"/>
                </a:solidFill>
                <a:latin typeface="Noto Serif" pitchFamily="34" charset="0"/>
                <a:ea typeface="Noto Serif" pitchFamily="34" charset="-122"/>
                <a:cs typeface="Noto Serif" pitchFamily="34" charset="-120"/>
              </a:rPr>
              <a:t>Vibration patterns and energy consumption together reveal mechanical wear and operational inefficiencies.</a:t>
            </a:r>
            <a:endParaRPr lang="en-US" sz="900" dirty="0"/>
          </a:p>
        </p:txBody>
      </p:sp>
      <p:sp>
        <p:nvSpPr>
          <p:cNvPr id="38" name="Shape 32"/>
          <p:cNvSpPr/>
          <p:nvPr/>
        </p:nvSpPr>
        <p:spPr>
          <a:xfrm>
            <a:off x="6243977" y="4124424"/>
            <a:ext cx="5292593" cy="521891"/>
          </a:xfrm>
          <a:prstGeom prst="roundRect">
            <a:avLst>
              <a:gd name="adj" fmla="val 9359"/>
            </a:avLst>
          </a:prstGeom>
          <a:solidFill>
            <a:srgbClr val="E8E6E3"/>
          </a:solidFill>
          <a:ln/>
        </p:spPr>
      </p:sp>
      <p:pic>
        <p:nvPicPr>
          <p:cNvPr id="39" name="Image 4" descr="preencoded.png"/>
          <p:cNvPicPr>
            <a:picLocks noChangeAspect="1"/>
          </p:cNvPicPr>
          <p:nvPr/>
        </p:nvPicPr>
        <p:blipFill>
          <a:blip r:embed="rId7"/>
          <a:stretch>
            <a:fillRect/>
          </a:stretch>
        </p:blipFill>
        <p:spPr>
          <a:xfrm>
            <a:off x="6360259" y="4254103"/>
            <a:ext cx="145352" cy="116284"/>
          </a:xfrm>
          <a:prstGeom prst="rect">
            <a:avLst/>
          </a:prstGeom>
        </p:spPr>
      </p:pic>
      <p:sp>
        <p:nvSpPr>
          <p:cNvPr id="40" name="Text 33"/>
          <p:cNvSpPr/>
          <p:nvPr/>
        </p:nvSpPr>
        <p:spPr>
          <a:xfrm>
            <a:off x="6621892" y="4227016"/>
            <a:ext cx="4798396" cy="316706"/>
          </a:xfrm>
          <a:prstGeom prst="rect">
            <a:avLst/>
          </a:prstGeom>
          <a:noFill/>
          <a:ln/>
        </p:spPr>
        <p:txBody>
          <a:bodyPr wrap="square" lIns="0" tIns="0" rIns="0" bIns="0" rtlCol="0" anchor="t">
            <a:normAutofit/>
          </a:bodyPr>
          <a:lstStyle/>
          <a:p>
            <a:pPr marL="0" indent="0" algn="l">
              <a:lnSpc>
                <a:spcPct val="114000"/>
              </a:lnSpc>
              <a:buNone/>
            </a:pPr>
            <a:r>
              <a:rPr lang="en-US" sz="900" dirty="0">
                <a:solidFill>
                  <a:srgbClr val="000000"/>
                </a:solidFill>
                <a:latin typeface="Noto Serif" pitchFamily="34" charset="0"/>
                <a:ea typeface="Noto Serif" pitchFamily="34" charset="-122"/>
                <a:cs typeface="Noto Serif" pitchFamily="34" charset="-120"/>
              </a:rPr>
              <a:t>Multiple sensors can be monitored simultaneously across the IoT network, enabling holistic visibility into system health.</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499864"/>
            <a:ext cx="10868745" cy="379512"/>
          </a:xfrm>
          <a:prstGeom prst="rect">
            <a:avLst/>
          </a:prstGeom>
          <a:noFill/>
          <a:ln/>
        </p:spPr>
        <p:txBody>
          <a:bodyPr wrap="none" lIns="0" tIns="0" rIns="0" bIns="0" rtlCol="0" anchor="t"/>
          <a:lstStyle/>
          <a:p>
            <a:pPr marL="0" indent="0" algn="l">
              <a:lnSpc>
                <a:spcPct val="104000"/>
              </a:lnSpc>
              <a:buNone/>
            </a:pPr>
            <a:r>
              <a:rPr lang="en-US" sz="2350" kern="0" spc="-48" dirty="0">
                <a:solidFill>
                  <a:srgbClr val="3A3A3A"/>
                </a:solidFill>
                <a:latin typeface="Noto Serif Medium" pitchFamily="34" charset="0"/>
                <a:ea typeface="Noto Serif Medium" pitchFamily="34" charset="-122"/>
                <a:cs typeface="Noto Serif Medium" pitchFamily="34" charset="-120"/>
              </a:rPr>
              <a:t>Data Processing and Anomaly Detection Workflow</a:t>
            </a:r>
            <a:endParaRPr lang="en-US" sz="2350" dirty="0"/>
          </a:p>
        </p:txBody>
      </p:sp>
      <p:sp>
        <p:nvSpPr>
          <p:cNvPr id="3" name="Text 1"/>
          <p:cNvSpPr/>
          <p:nvPr/>
        </p:nvSpPr>
        <p:spPr>
          <a:xfrm>
            <a:off x="661475" y="1057771"/>
            <a:ext cx="11478330" cy="168473"/>
          </a:xfrm>
          <a:prstGeom prst="rect">
            <a:avLst/>
          </a:prstGeom>
          <a:noFill/>
          <a:ln/>
        </p:spPr>
        <p:txBody>
          <a:bodyPr wrap="none" lIns="0" tIns="0" rIns="0" bIns="0" rtlCol="0" anchor="t"/>
          <a:lstStyle/>
          <a:p>
            <a:pPr marL="0" indent="0" algn="l">
              <a:lnSpc>
                <a:spcPct val="116000"/>
              </a:lnSpc>
              <a:buNone/>
            </a:pPr>
            <a:r>
              <a:rPr lang="en-US" sz="950" dirty="0">
                <a:solidFill>
                  <a:srgbClr val="4C4C4C"/>
                </a:solidFill>
                <a:latin typeface="Noto Serif" pitchFamily="34" charset="0"/>
                <a:ea typeface="Noto Serif" pitchFamily="34" charset="-122"/>
                <a:cs typeface="Noto Serif" pitchFamily="34" charset="-120"/>
              </a:rPr>
              <a:t>The real-time processing pipeline transforms raw sensor streams into actionable anomaly intelligence through a structured sequence of stages.</a:t>
            </a:r>
            <a:endParaRPr lang="en-US" sz="950" dirty="0"/>
          </a:p>
        </p:txBody>
      </p:sp>
      <p:pic>
        <p:nvPicPr>
          <p:cNvPr id="4" name="Image 0" descr="preencoded.png"/>
          <p:cNvPicPr>
            <a:picLocks noChangeAspect="1"/>
          </p:cNvPicPr>
          <p:nvPr/>
        </p:nvPicPr>
        <p:blipFill>
          <a:blip r:embed="rId3"/>
          <a:stretch>
            <a:fillRect/>
          </a:stretch>
        </p:blipFill>
        <p:spPr>
          <a:xfrm>
            <a:off x="661475" y="1326555"/>
            <a:ext cx="5434373" cy="485775"/>
          </a:xfrm>
          <a:prstGeom prst="rect">
            <a:avLst/>
          </a:prstGeom>
        </p:spPr>
      </p:pic>
      <p:sp>
        <p:nvSpPr>
          <p:cNvPr id="5" name="Text 2"/>
          <p:cNvSpPr/>
          <p:nvPr/>
        </p:nvSpPr>
        <p:spPr>
          <a:xfrm>
            <a:off x="782916" y="1901527"/>
            <a:ext cx="5191491" cy="189706"/>
          </a:xfrm>
          <a:prstGeom prst="rect">
            <a:avLst/>
          </a:prstGeom>
          <a:noFill/>
          <a:ln/>
        </p:spPr>
        <p:txBody>
          <a:bodyPr wrap="none" lIns="0" tIns="0" rIns="0" bIns="0" rtlCol="0" anchor="t"/>
          <a:lstStyle/>
          <a:p>
            <a:pPr marL="0" indent="0" algn="l">
              <a:lnSpc>
                <a:spcPct val="104000"/>
              </a:lnSpc>
              <a:buNone/>
            </a:pPr>
            <a:r>
              <a:rPr lang="en-US" sz="1150" kern="0" spc="-24" dirty="0">
                <a:solidFill>
                  <a:srgbClr val="4C4C4C"/>
                </a:solidFill>
                <a:latin typeface="Noto Serif Medium" pitchFamily="34" charset="0"/>
                <a:ea typeface="Noto Serif Medium" pitchFamily="34" charset="-122"/>
                <a:cs typeface="Noto Serif Medium" pitchFamily="34" charset="-120"/>
              </a:rPr>
              <a:t>Ingest</a:t>
            </a:r>
            <a:endParaRPr lang="en-US" sz="1150" dirty="0"/>
          </a:p>
        </p:txBody>
      </p:sp>
      <p:sp>
        <p:nvSpPr>
          <p:cNvPr id="6" name="Text 3"/>
          <p:cNvSpPr/>
          <p:nvPr/>
        </p:nvSpPr>
        <p:spPr>
          <a:xfrm>
            <a:off x="782916" y="2144713"/>
            <a:ext cx="5191491" cy="168473"/>
          </a:xfrm>
          <a:prstGeom prst="rect">
            <a:avLst/>
          </a:prstGeom>
          <a:noFill/>
          <a:ln/>
        </p:spPr>
        <p:txBody>
          <a:bodyPr wrap="none" lIns="0" tIns="0" rIns="0" bIns="0" rtlCol="0" anchor="t"/>
          <a:lstStyle/>
          <a:p>
            <a:pPr marL="0" indent="0" algn="l">
              <a:lnSpc>
                <a:spcPct val="116000"/>
              </a:lnSpc>
              <a:buNone/>
            </a:pPr>
            <a:r>
              <a:rPr lang="en-US" sz="950" dirty="0">
                <a:solidFill>
                  <a:srgbClr val="4C4C4C"/>
                </a:solidFill>
                <a:latin typeface="Noto Serif" pitchFamily="34" charset="0"/>
                <a:ea typeface="Noto Serif" pitchFamily="34" charset="-122"/>
                <a:cs typeface="Noto Serif" pitchFamily="34" charset="-120"/>
              </a:rPr>
              <a:t>Real-time sensor data arrives continuously from IoT devices</a:t>
            </a:r>
            <a:endParaRPr lang="en-US" sz="950" dirty="0"/>
          </a:p>
        </p:txBody>
      </p:sp>
      <p:pic>
        <p:nvPicPr>
          <p:cNvPr id="7" name="Image 1" descr="preencoded.png"/>
          <p:cNvPicPr>
            <a:picLocks noChangeAspect="1"/>
          </p:cNvPicPr>
          <p:nvPr/>
        </p:nvPicPr>
        <p:blipFill>
          <a:blip r:embed="rId4"/>
          <a:stretch>
            <a:fillRect/>
          </a:stretch>
        </p:blipFill>
        <p:spPr>
          <a:xfrm>
            <a:off x="6095848" y="1326555"/>
            <a:ext cx="5434373" cy="485775"/>
          </a:xfrm>
          <a:prstGeom prst="rect">
            <a:avLst/>
          </a:prstGeom>
        </p:spPr>
      </p:pic>
      <p:sp>
        <p:nvSpPr>
          <p:cNvPr id="8" name="Text 4"/>
          <p:cNvSpPr/>
          <p:nvPr/>
        </p:nvSpPr>
        <p:spPr>
          <a:xfrm>
            <a:off x="6217288" y="1901527"/>
            <a:ext cx="5191491" cy="189706"/>
          </a:xfrm>
          <a:prstGeom prst="rect">
            <a:avLst/>
          </a:prstGeom>
          <a:noFill/>
          <a:ln/>
        </p:spPr>
        <p:txBody>
          <a:bodyPr wrap="none" lIns="0" tIns="0" rIns="0" bIns="0" rtlCol="0" anchor="t"/>
          <a:lstStyle/>
          <a:p>
            <a:pPr marL="0" indent="0" algn="l">
              <a:lnSpc>
                <a:spcPct val="104000"/>
              </a:lnSpc>
              <a:buNone/>
            </a:pPr>
            <a:r>
              <a:rPr lang="en-US" sz="1150" kern="0" spc="-24" dirty="0">
                <a:solidFill>
                  <a:srgbClr val="4C4C4C"/>
                </a:solidFill>
                <a:latin typeface="Noto Serif Medium" pitchFamily="34" charset="0"/>
                <a:ea typeface="Noto Serif Medium" pitchFamily="34" charset="-122"/>
                <a:cs typeface="Noto Serif Medium" pitchFamily="34" charset="-120"/>
              </a:rPr>
              <a:t>Preprocess</a:t>
            </a:r>
            <a:endParaRPr lang="en-US" sz="1150" dirty="0"/>
          </a:p>
        </p:txBody>
      </p:sp>
      <p:sp>
        <p:nvSpPr>
          <p:cNvPr id="9" name="Text 5"/>
          <p:cNvSpPr/>
          <p:nvPr/>
        </p:nvSpPr>
        <p:spPr>
          <a:xfrm>
            <a:off x="6217288" y="2144713"/>
            <a:ext cx="5191491" cy="168473"/>
          </a:xfrm>
          <a:prstGeom prst="rect">
            <a:avLst/>
          </a:prstGeom>
          <a:noFill/>
          <a:ln/>
        </p:spPr>
        <p:txBody>
          <a:bodyPr wrap="none" lIns="0" tIns="0" rIns="0" bIns="0" rtlCol="0" anchor="t"/>
          <a:lstStyle/>
          <a:p>
            <a:pPr marL="0" indent="0" algn="l">
              <a:lnSpc>
                <a:spcPct val="116000"/>
              </a:lnSpc>
              <a:buNone/>
            </a:pPr>
            <a:r>
              <a:rPr lang="en-US" sz="950" dirty="0">
                <a:solidFill>
                  <a:srgbClr val="4C4C4C"/>
                </a:solidFill>
                <a:latin typeface="Noto Serif" pitchFamily="34" charset="0"/>
                <a:ea typeface="Noto Serif" pitchFamily="34" charset="-122"/>
                <a:cs typeface="Noto Serif" pitchFamily="34" charset="-120"/>
              </a:rPr>
              <a:t>Validation, inconsistency handling, chronological organization</a:t>
            </a:r>
            <a:endParaRPr lang="en-US" sz="950" dirty="0"/>
          </a:p>
        </p:txBody>
      </p:sp>
      <p:pic>
        <p:nvPicPr>
          <p:cNvPr id="10" name="Image 2" descr="preencoded.png"/>
          <p:cNvPicPr>
            <a:picLocks noChangeAspect="1"/>
          </p:cNvPicPr>
          <p:nvPr/>
        </p:nvPicPr>
        <p:blipFill>
          <a:blip r:embed="rId5"/>
          <a:stretch>
            <a:fillRect/>
          </a:stretch>
        </p:blipFill>
        <p:spPr>
          <a:xfrm>
            <a:off x="661475" y="2434630"/>
            <a:ext cx="5434373" cy="485775"/>
          </a:xfrm>
          <a:prstGeom prst="rect">
            <a:avLst/>
          </a:prstGeom>
        </p:spPr>
      </p:pic>
      <p:sp>
        <p:nvSpPr>
          <p:cNvPr id="11" name="Text 6"/>
          <p:cNvSpPr/>
          <p:nvPr/>
        </p:nvSpPr>
        <p:spPr>
          <a:xfrm>
            <a:off x="782916" y="3009602"/>
            <a:ext cx="5191491" cy="189706"/>
          </a:xfrm>
          <a:prstGeom prst="rect">
            <a:avLst/>
          </a:prstGeom>
          <a:noFill/>
          <a:ln/>
        </p:spPr>
        <p:txBody>
          <a:bodyPr wrap="none" lIns="0" tIns="0" rIns="0" bIns="0" rtlCol="0" anchor="t"/>
          <a:lstStyle/>
          <a:p>
            <a:pPr marL="0" indent="0" algn="l">
              <a:lnSpc>
                <a:spcPct val="104000"/>
              </a:lnSpc>
              <a:buNone/>
            </a:pPr>
            <a:r>
              <a:rPr lang="en-US" sz="1150" kern="0" spc="-24" dirty="0">
                <a:solidFill>
                  <a:srgbClr val="4C4C4C"/>
                </a:solidFill>
                <a:latin typeface="Noto Serif Medium" pitchFamily="34" charset="0"/>
                <a:ea typeface="Noto Serif Medium" pitchFamily="34" charset="-122"/>
                <a:cs typeface="Noto Serif Medium" pitchFamily="34" charset="-120"/>
              </a:rPr>
              <a:t>Prepare</a:t>
            </a:r>
            <a:endParaRPr lang="en-US" sz="1150" dirty="0"/>
          </a:p>
        </p:txBody>
      </p:sp>
      <p:sp>
        <p:nvSpPr>
          <p:cNvPr id="12" name="Text 7"/>
          <p:cNvSpPr/>
          <p:nvPr/>
        </p:nvSpPr>
        <p:spPr>
          <a:xfrm>
            <a:off x="782916" y="3252788"/>
            <a:ext cx="5191491" cy="168473"/>
          </a:xfrm>
          <a:prstGeom prst="rect">
            <a:avLst/>
          </a:prstGeom>
          <a:noFill/>
          <a:ln/>
        </p:spPr>
        <p:txBody>
          <a:bodyPr wrap="none" lIns="0" tIns="0" rIns="0" bIns="0" rtlCol="0" anchor="t"/>
          <a:lstStyle/>
          <a:p>
            <a:pPr marL="0" indent="0" algn="l">
              <a:lnSpc>
                <a:spcPct val="116000"/>
              </a:lnSpc>
              <a:buNone/>
            </a:pPr>
            <a:r>
              <a:rPr lang="en-US" sz="950" dirty="0">
                <a:solidFill>
                  <a:srgbClr val="4C4C4C"/>
                </a:solidFill>
                <a:latin typeface="Noto Serif" pitchFamily="34" charset="0"/>
                <a:ea typeface="Noto Serif" pitchFamily="34" charset="-122"/>
                <a:cs typeface="Noto Serif" pitchFamily="34" charset="-120"/>
              </a:rPr>
              <a:t>Normalization and feature transformation for ML input</a:t>
            </a:r>
            <a:endParaRPr lang="en-US" sz="950" dirty="0"/>
          </a:p>
        </p:txBody>
      </p:sp>
      <p:pic>
        <p:nvPicPr>
          <p:cNvPr id="13" name="Image 3" descr="preencoded.png"/>
          <p:cNvPicPr>
            <a:picLocks noChangeAspect="1"/>
          </p:cNvPicPr>
          <p:nvPr/>
        </p:nvPicPr>
        <p:blipFill>
          <a:blip r:embed="rId6"/>
          <a:stretch>
            <a:fillRect/>
          </a:stretch>
        </p:blipFill>
        <p:spPr>
          <a:xfrm>
            <a:off x="6095848" y="2434630"/>
            <a:ext cx="5434373" cy="485775"/>
          </a:xfrm>
          <a:prstGeom prst="rect">
            <a:avLst/>
          </a:prstGeom>
        </p:spPr>
      </p:pic>
      <p:sp>
        <p:nvSpPr>
          <p:cNvPr id="14" name="Text 8"/>
          <p:cNvSpPr/>
          <p:nvPr/>
        </p:nvSpPr>
        <p:spPr>
          <a:xfrm>
            <a:off x="6217288" y="3009602"/>
            <a:ext cx="5191491" cy="189706"/>
          </a:xfrm>
          <a:prstGeom prst="rect">
            <a:avLst/>
          </a:prstGeom>
          <a:noFill/>
          <a:ln/>
        </p:spPr>
        <p:txBody>
          <a:bodyPr wrap="none" lIns="0" tIns="0" rIns="0" bIns="0" rtlCol="0" anchor="t"/>
          <a:lstStyle/>
          <a:p>
            <a:pPr marL="0" indent="0" algn="l">
              <a:lnSpc>
                <a:spcPct val="104000"/>
              </a:lnSpc>
              <a:buNone/>
            </a:pPr>
            <a:r>
              <a:rPr lang="en-US" sz="1150" kern="0" spc="-24" dirty="0">
                <a:solidFill>
                  <a:srgbClr val="4C4C4C"/>
                </a:solidFill>
                <a:latin typeface="Noto Serif Medium" pitchFamily="34" charset="0"/>
                <a:ea typeface="Noto Serif Medium" pitchFamily="34" charset="-122"/>
                <a:cs typeface="Noto Serif Medium" pitchFamily="34" charset="-120"/>
              </a:rPr>
              <a:t>Detect</a:t>
            </a:r>
            <a:endParaRPr lang="en-US" sz="1150" dirty="0"/>
          </a:p>
        </p:txBody>
      </p:sp>
      <p:sp>
        <p:nvSpPr>
          <p:cNvPr id="15" name="Text 9"/>
          <p:cNvSpPr/>
          <p:nvPr/>
        </p:nvSpPr>
        <p:spPr>
          <a:xfrm>
            <a:off x="6217288" y="3252788"/>
            <a:ext cx="5191491" cy="168473"/>
          </a:xfrm>
          <a:prstGeom prst="rect">
            <a:avLst/>
          </a:prstGeom>
          <a:noFill/>
          <a:ln/>
        </p:spPr>
        <p:txBody>
          <a:bodyPr wrap="none" lIns="0" tIns="0" rIns="0" bIns="0" rtlCol="0" anchor="t"/>
          <a:lstStyle/>
          <a:p>
            <a:pPr marL="0" indent="0" algn="l">
              <a:lnSpc>
                <a:spcPct val="116000"/>
              </a:lnSpc>
              <a:buNone/>
            </a:pPr>
            <a:r>
              <a:rPr lang="en-US" sz="950" dirty="0">
                <a:solidFill>
                  <a:srgbClr val="4C4C4C"/>
                </a:solidFill>
                <a:latin typeface="Noto Serif" pitchFamily="34" charset="0"/>
                <a:ea typeface="Noto Serif" pitchFamily="34" charset="-122"/>
                <a:cs typeface="Noto Serif" pitchFamily="34" charset="-120"/>
              </a:rPr>
              <a:t>ML model analyzes features; compares against learned normal patterns</a:t>
            </a:r>
            <a:endParaRPr lang="en-US" sz="950" dirty="0"/>
          </a:p>
        </p:txBody>
      </p:sp>
      <p:pic>
        <p:nvPicPr>
          <p:cNvPr id="16" name="Image 4" descr="preencoded.png"/>
          <p:cNvPicPr>
            <a:picLocks noChangeAspect="1"/>
          </p:cNvPicPr>
          <p:nvPr/>
        </p:nvPicPr>
        <p:blipFill>
          <a:blip r:embed="rId3"/>
          <a:stretch>
            <a:fillRect/>
          </a:stretch>
        </p:blipFill>
        <p:spPr>
          <a:xfrm>
            <a:off x="661475" y="3643015"/>
            <a:ext cx="5434373" cy="485775"/>
          </a:xfrm>
          <a:prstGeom prst="rect">
            <a:avLst/>
          </a:prstGeom>
        </p:spPr>
      </p:pic>
      <p:sp>
        <p:nvSpPr>
          <p:cNvPr id="17" name="Text 10"/>
          <p:cNvSpPr/>
          <p:nvPr/>
        </p:nvSpPr>
        <p:spPr>
          <a:xfrm>
            <a:off x="782916" y="4217988"/>
            <a:ext cx="5191491" cy="189706"/>
          </a:xfrm>
          <a:prstGeom prst="rect">
            <a:avLst/>
          </a:prstGeom>
          <a:noFill/>
          <a:ln/>
        </p:spPr>
        <p:txBody>
          <a:bodyPr wrap="none" lIns="0" tIns="0" rIns="0" bIns="0" rtlCol="0" anchor="t"/>
          <a:lstStyle/>
          <a:p>
            <a:pPr marL="0" indent="0" algn="l">
              <a:lnSpc>
                <a:spcPct val="104000"/>
              </a:lnSpc>
              <a:buNone/>
            </a:pPr>
            <a:r>
              <a:rPr lang="en-US" sz="1150" kern="0" spc="-24" dirty="0">
                <a:solidFill>
                  <a:srgbClr val="4C4C4C"/>
                </a:solidFill>
                <a:latin typeface="Noto Serif Medium" pitchFamily="34" charset="0"/>
                <a:ea typeface="Noto Serif Medium" pitchFamily="34" charset="-122"/>
                <a:cs typeface="Noto Serif Medium" pitchFamily="34" charset="-120"/>
              </a:rPr>
              <a:t>Score</a:t>
            </a:r>
            <a:endParaRPr lang="en-US" sz="1150" dirty="0"/>
          </a:p>
        </p:txBody>
      </p:sp>
      <p:sp>
        <p:nvSpPr>
          <p:cNvPr id="18" name="Text 11"/>
          <p:cNvSpPr/>
          <p:nvPr/>
        </p:nvSpPr>
        <p:spPr>
          <a:xfrm>
            <a:off x="782916" y="4461173"/>
            <a:ext cx="5191491" cy="168473"/>
          </a:xfrm>
          <a:prstGeom prst="rect">
            <a:avLst/>
          </a:prstGeom>
          <a:noFill/>
          <a:ln/>
        </p:spPr>
        <p:txBody>
          <a:bodyPr wrap="none" lIns="0" tIns="0" rIns="0" bIns="0" rtlCol="0" anchor="t"/>
          <a:lstStyle/>
          <a:p>
            <a:pPr marL="0" indent="0" algn="l">
              <a:lnSpc>
                <a:spcPct val="116000"/>
              </a:lnSpc>
              <a:buNone/>
            </a:pPr>
            <a:r>
              <a:rPr lang="en-US" sz="950" dirty="0">
                <a:solidFill>
                  <a:srgbClr val="4C4C4C"/>
                </a:solidFill>
                <a:latin typeface="Noto Serif" pitchFamily="34" charset="0"/>
                <a:ea typeface="Noto Serif" pitchFamily="34" charset="-122"/>
                <a:cs typeface="Noto Serif" pitchFamily="34" charset="-120"/>
              </a:rPr>
              <a:t>Anomaly score and classification indicate deviation severity</a:t>
            </a:r>
            <a:endParaRPr lang="en-US" sz="950" dirty="0"/>
          </a:p>
        </p:txBody>
      </p:sp>
      <p:pic>
        <p:nvPicPr>
          <p:cNvPr id="19" name="Image 5" descr="preencoded.png"/>
          <p:cNvPicPr>
            <a:picLocks noChangeAspect="1"/>
          </p:cNvPicPr>
          <p:nvPr/>
        </p:nvPicPr>
        <p:blipFill>
          <a:blip r:embed="rId4"/>
          <a:stretch>
            <a:fillRect/>
          </a:stretch>
        </p:blipFill>
        <p:spPr>
          <a:xfrm>
            <a:off x="6095848" y="3643015"/>
            <a:ext cx="5434373" cy="485775"/>
          </a:xfrm>
          <a:prstGeom prst="rect">
            <a:avLst/>
          </a:prstGeom>
        </p:spPr>
      </p:pic>
      <p:sp>
        <p:nvSpPr>
          <p:cNvPr id="20" name="Text 12"/>
          <p:cNvSpPr/>
          <p:nvPr/>
        </p:nvSpPr>
        <p:spPr>
          <a:xfrm>
            <a:off x="6217288" y="4217988"/>
            <a:ext cx="5191491" cy="189706"/>
          </a:xfrm>
          <a:prstGeom prst="rect">
            <a:avLst/>
          </a:prstGeom>
          <a:noFill/>
          <a:ln/>
        </p:spPr>
        <p:txBody>
          <a:bodyPr wrap="none" lIns="0" tIns="0" rIns="0" bIns="0" rtlCol="0" anchor="t"/>
          <a:lstStyle/>
          <a:p>
            <a:pPr marL="0" indent="0" algn="l">
              <a:lnSpc>
                <a:spcPct val="104000"/>
              </a:lnSpc>
              <a:buNone/>
            </a:pPr>
            <a:r>
              <a:rPr lang="en-US" sz="1150" kern="0" spc="-24" dirty="0">
                <a:solidFill>
                  <a:srgbClr val="4C4C4C"/>
                </a:solidFill>
                <a:latin typeface="Noto Serif Medium" pitchFamily="34" charset="0"/>
                <a:ea typeface="Noto Serif Medium" pitchFamily="34" charset="-122"/>
                <a:cs typeface="Noto Serif Medium" pitchFamily="34" charset="-120"/>
              </a:rPr>
              <a:t>Alert</a:t>
            </a:r>
            <a:endParaRPr lang="en-US" sz="1150" dirty="0"/>
          </a:p>
        </p:txBody>
      </p:sp>
      <p:sp>
        <p:nvSpPr>
          <p:cNvPr id="21" name="Text 13"/>
          <p:cNvSpPr/>
          <p:nvPr/>
        </p:nvSpPr>
        <p:spPr>
          <a:xfrm>
            <a:off x="6217288" y="4461173"/>
            <a:ext cx="5191491" cy="168473"/>
          </a:xfrm>
          <a:prstGeom prst="rect">
            <a:avLst/>
          </a:prstGeom>
          <a:noFill/>
          <a:ln/>
        </p:spPr>
        <p:txBody>
          <a:bodyPr wrap="none" lIns="0" tIns="0" rIns="0" bIns="0" rtlCol="0" anchor="t"/>
          <a:lstStyle/>
          <a:p>
            <a:pPr marL="0" indent="0" algn="l">
              <a:lnSpc>
                <a:spcPct val="116000"/>
              </a:lnSpc>
              <a:buNone/>
            </a:pPr>
            <a:r>
              <a:rPr lang="en-US" sz="950" dirty="0">
                <a:solidFill>
                  <a:srgbClr val="4C4C4C"/>
                </a:solidFill>
                <a:latin typeface="Noto Serif" pitchFamily="34" charset="0"/>
                <a:ea typeface="Noto Serif" pitchFamily="34" charset="-122"/>
                <a:cs typeface="Noto Serif" pitchFamily="34" charset="-120"/>
              </a:rPr>
              <a:t>Notifications generated for detected anomalies, prioritized by score</a:t>
            </a:r>
            <a:endParaRPr lang="en-US" sz="950" dirty="0"/>
          </a:p>
        </p:txBody>
      </p:sp>
      <p:pic>
        <p:nvPicPr>
          <p:cNvPr id="22" name="Image 6" descr="preencoded.png"/>
          <p:cNvPicPr>
            <a:picLocks noChangeAspect="1"/>
          </p:cNvPicPr>
          <p:nvPr/>
        </p:nvPicPr>
        <p:blipFill>
          <a:blip r:embed="rId5"/>
          <a:stretch>
            <a:fillRect/>
          </a:stretch>
        </p:blipFill>
        <p:spPr>
          <a:xfrm>
            <a:off x="661475" y="4751090"/>
            <a:ext cx="5434373" cy="485775"/>
          </a:xfrm>
          <a:prstGeom prst="rect">
            <a:avLst/>
          </a:prstGeom>
        </p:spPr>
      </p:pic>
      <p:sp>
        <p:nvSpPr>
          <p:cNvPr id="23" name="Text 14"/>
          <p:cNvSpPr/>
          <p:nvPr/>
        </p:nvSpPr>
        <p:spPr>
          <a:xfrm>
            <a:off x="782916" y="5326063"/>
            <a:ext cx="5191491" cy="189706"/>
          </a:xfrm>
          <a:prstGeom prst="rect">
            <a:avLst/>
          </a:prstGeom>
          <a:noFill/>
          <a:ln/>
        </p:spPr>
        <p:txBody>
          <a:bodyPr wrap="none" lIns="0" tIns="0" rIns="0" bIns="0" rtlCol="0" anchor="t"/>
          <a:lstStyle/>
          <a:p>
            <a:pPr marL="0" indent="0" algn="l">
              <a:lnSpc>
                <a:spcPct val="104000"/>
              </a:lnSpc>
              <a:buNone/>
            </a:pPr>
            <a:r>
              <a:rPr lang="en-US" sz="1150" kern="0" spc="-24" dirty="0">
                <a:solidFill>
                  <a:srgbClr val="4C4C4C"/>
                </a:solidFill>
                <a:latin typeface="Noto Serif Medium" pitchFamily="34" charset="0"/>
                <a:ea typeface="Noto Serif Medium" pitchFamily="34" charset="-122"/>
                <a:cs typeface="Noto Serif Medium" pitchFamily="34" charset="-120"/>
              </a:rPr>
              <a:t>Visualize</a:t>
            </a:r>
            <a:endParaRPr lang="en-US" sz="1150" dirty="0"/>
          </a:p>
        </p:txBody>
      </p:sp>
      <p:sp>
        <p:nvSpPr>
          <p:cNvPr id="24" name="Text 15"/>
          <p:cNvSpPr/>
          <p:nvPr/>
        </p:nvSpPr>
        <p:spPr>
          <a:xfrm>
            <a:off x="782916" y="5569248"/>
            <a:ext cx="5191491" cy="168473"/>
          </a:xfrm>
          <a:prstGeom prst="rect">
            <a:avLst/>
          </a:prstGeom>
          <a:noFill/>
          <a:ln/>
        </p:spPr>
        <p:txBody>
          <a:bodyPr wrap="none" lIns="0" tIns="0" rIns="0" bIns="0" rtlCol="0" anchor="t"/>
          <a:lstStyle/>
          <a:p>
            <a:pPr marL="0" indent="0" algn="l">
              <a:lnSpc>
                <a:spcPct val="116000"/>
              </a:lnSpc>
              <a:buNone/>
            </a:pPr>
            <a:r>
              <a:rPr lang="en-US" sz="950" dirty="0">
                <a:solidFill>
                  <a:srgbClr val="4C4C4C"/>
                </a:solidFill>
                <a:latin typeface="Noto Serif" pitchFamily="34" charset="0"/>
                <a:ea typeface="Noto Serif" pitchFamily="34" charset="-122"/>
                <a:cs typeface="Noto Serif" pitchFamily="34" charset="-120"/>
              </a:rPr>
              <a:t>Dashboard displays real-time anomaly information and sensor health</a:t>
            </a:r>
            <a:endParaRPr lang="en-US" sz="950" dirty="0"/>
          </a:p>
        </p:txBody>
      </p:sp>
      <p:pic>
        <p:nvPicPr>
          <p:cNvPr id="25" name="Image 7" descr="preencoded.png"/>
          <p:cNvPicPr>
            <a:picLocks noChangeAspect="1"/>
          </p:cNvPicPr>
          <p:nvPr/>
        </p:nvPicPr>
        <p:blipFill>
          <a:blip r:embed="rId6"/>
          <a:stretch>
            <a:fillRect/>
          </a:stretch>
        </p:blipFill>
        <p:spPr>
          <a:xfrm>
            <a:off x="6095848" y="4751090"/>
            <a:ext cx="5434373" cy="485775"/>
          </a:xfrm>
          <a:prstGeom prst="rect">
            <a:avLst/>
          </a:prstGeom>
        </p:spPr>
      </p:pic>
      <p:sp>
        <p:nvSpPr>
          <p:cNvPr id="26" name="Text 16"/>
          <p:cNvSpPr/>
          <p:nvPr/>
        </p:nvSpPr>
        <p:spPr>
          <a:xfrm>
            <a:off x="6217288" y="5326063"/>
            <a:ext cx="5191491" cy="189706"/>
          </a:xfrm>
          <a:prstGeom prst="rect">
            <a:avLst/>
          </a:prstGeom>
          <a:noFill/>
          <a:ln/>
        </p:spPr>
        <p:txBody>
          <a:bodyPr wrap="none" lIns="0" tIns="0" rIns="0" bIns="0" rtlCol="0" anchor="t"/>
          <a:lstStyle/>
          <a:p>
            <a:pPr marL="0" indent="0" algn="l">
              <a:lnSpc>
                <a:spcPct val="104000"/>
              </a:lnSpc>
              <a:buNone/>
            </a:pPr>
            <a:r>
              <a:rPr lang="en-US" sz="1150" kern="0" spc="-24" dirty="0">
                <a:solidFill>
                  <a:srgbClr val="4C4C4C"/>
                </a:solidFill>
                <a:latin typeface="Noto Serif Medium" pitchFamily="34" charset="0"/>
                <a:ea typeface="Noto Serif Medium" pitchFamily="34" charset="-122"/>
                <a:cs typeface="Noto Serif Medium" pitchFamily="34" charset="-120"/>
              </a:rPr>
              <a:t>Investigate</a:t>
            </a:r>
            <a:endParaRPr lang="en-US" sz="1150" dirty="0"/>
          </a:p>
        </p:txBody>
      </p:sp>
      <p:sp>
        <p:nvSpPr>
          <p:cNvPr id="27" name="Text 17"/>
          <p:cNvSpPr/>
          <p:nvPr/>
        </p:nvSpPr>
        <p:spPr>
          <a:xfrm>
            <a:off x="6217288" y="5569248"/>
            <a:ext cx="5191491" cy="168473"/>
          </a:xfrm>
          <a:prstGeom prst="rect">
            <a:avLst/>
          </a:prstGeom>
          <a:noFill/>
          <a:ln/>
        </p:spPr>
        <p:txBody>
          <a:bodyPr wrap="none" lIns="0" tIns="0" rIns="0" bIns="0" rtlCol="0" anchor="t"/>
          <a:lstStyle/>
          <a:p>
            <a:pPr marL="0" indent="0" algn="l">
              <a:lnSpc>
                <a:spcPct val="116000"/>
              </a:lnSpc>
              <a:buNone/>
            </a:pPr>
            <a:r>
              <a:rPr lang="en-US" sz="950" dirty="0">
                <a:solidFill>
                  <a:srgbClr val="4C4C4C"/>
                </a:solidFill>
                <a:latin typeface="Noto Serif" pitchFamily="34" charset="0"/>
                <a:ea typeface="Noto Serif" pitchFamily="34" charset="-122"/>
                <a:cs typeface="Noto Serif" pitchFamily="34" charset="-120"/>
              </a:rPr>
              <a:t>Maintenance team investigates flagged anomalies for fault identification</a:t>
            </a:r>
            <a:endParaRPr lang="en-US" sz="950" dirty="0"/>
          </a:p>
        </p:txBody>
      </p:sp>
      <p:sp>
        <p:nvSpPr>
          <p:cNvPr id="28" name="Shape 18"/>
          <p:cNvSpPr/>
          <p:nvPr/>
        </p:nvSpPr>
        <p:spPr>
          <a:xfrm>
            <a:off x="661475" y="5959475"/>
            <a:ext cx="10868745" cy="398661"/>
          </a:xfrm>
          <a:prstGeom prst="roundRect">
            <a:avLst>
              <a:gd name="adj" fmla="val 12796"/>
            </a:avLst>
          </a:prstGeom>
          <a:solidFill>
            <a:srgbClr val="E8E6E3"/>
          </a:solidFill>
          <a:ln/>
        </p:spPr>
      </p:sp>
      <p:pic>
        <p:nvPicPr>
          <p:cNvPr id="29" name="Image 8" descr="preencoded.png"/>
          <p:cNvPicPr>
            <a:picLocks noChangeAspect="1"/>
          </p:cNvPicPr>
          <p:nvPr/>
        </p:nvPicPr>
        <p:blipFill>
          <a:blip r:embed="rId7"/>
          <a:stretch>
            <a:fillRect/>
          </a:stretch>
        </p:blipFill>
        <p:spPr>
          <a:xfrm>
            <a:off x="782916" y="6087070"/>
            <a:ext cx="151801" cy="121444"/>
          </a:xfrm>
          <a:prstGeom prst="rect">
            <a:avLst/>
          </a:prstGeom>
        </p:spPr>
      </p:pic>
      <p:sp>
        <p:nvSpPr>
          <p:cNvPr id="30" name="Text 19"/>
          <p:cNvSpPr/>
          <p:nvPr/>
        </p:nvSpPr>
        <p:spPr>
          <a:xfrm>
            <a:off x="1056157" y="6079034"/>
            <a:ext cx="10962207" cy="168473"/>
          </a:xfrm>
          <a:prstGeom prst="rect">
            <a:avLst/>
          </a:prstGeom>
          <a:noFill/>
          <a:ln/>
        </p:spPr>
        <p:txBody>
          <a:bodyPr wrap="none" lIns="0" tIns="0" rIns="0" bIns="0" rtlCol="0" anchor="t"/>
          <a:lstStyle/>
          <a:p>
            <a:pPr marL="0" indent="0" algn="l">
              <a:lnSpc>
                <a:spcPct val="116000"/>
              </a:lnSpc>
              <a:buNone/>
            </a:pPr>
            <a:r>
              <a:rPr lang="en-US" sz="950" dirty="0">
                <a:solidFill>
                  <a:srgbClr val="000000"/>
                </a:solidFill>
                <a:latin typeface="Noto Serif" pitchFamily="34" charset="0"/>
                <a:ea typeface="Noto Serif" pitchFamily="34" charset="-122"/>
                <a:cs typeface="Noto Serif" pitchFamily="34" charset="-120"/>
              </a:rPr>
              <a:t>Each stage is designed to operate continuously and automatically, minimizing latency between sensor event and operator notification.</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458192"/>
            <a:ext cx="10868745" cy="419894"/>
          </a:xfrm>
          <a:prstGeom prst="rect">
            <a:avLst/>
          </a:prstGeom>
          <a:noFill/>
          <a:ln/>
        </p:spPr>
        <p:txBody>
          <a:bodyPr wrap="none" lIns="0" tIns="0" rIns="0" bIns="0" rtlCol="0" anchor="t"/>
          <a:lstStyle/>
          <a:p>
            <a:pPr marL="0" indent="0" algn="l">
              <a:lnSpc>
                <a:spcPct val="104000"/>
              </a:lnSpc>
              <a:buNone/>
            </a:pPr>
            <a:r>
              <a:rPr lang="en-US" sz="2600" kern="0" spc="-53" dirty="0">
                <a:solidFill>
                  <a:srgbClr val="3A3A3A"/>
                </a:solidFill>
                <a:latin typeface="Noto Serif Medium" pitchFamily="34" charset="0"/>
                <a:ea typeface="Noto Serif Medium" pitchFamily="34" charset="-122"/>
                <a:cs typeface="Noto Serif Medium" pitchFamily="34" charset="-120"/>
              </a:rPr>
              <a:t>Machine Learning Approach and Anomaly Types</a:t>
            </a:r>
            <a:endParaRPr lang="en-US" sz="2600" dirty="0"/>
          </a:p>
        </p:txBody>
      </p:sp>
      <p:sp>
        <p:nvSpPr>
          <p:cNvPr id="3" name="Text 1"/>
          <p:cNvSpPr/>
          <p:nvPr/>
        </p:nvSpPr>
        <p:spPr>
          <a:xfrm>
            <a:off x="661475" y="1150938"/>
            <a:ext cx="5270467" cy="209947"/>
          </a:xfrm>
          <a:prstGeom prst="rect">
            <a:avLst/>
          </a:prstGeom>
          <a:noFill/>
          <a:ln/>
        </p:spPr>
        <p:txBody>
          <a:bodyPr wrap="none" lIns="0" tIns="0" rIns="0" bIns="0" rtlCol="0" anchor="t"/>
          <a:lstStyle/>
          <a:p>
            <a:pPr marL="0" indent="0" algn="l">
              <a:lnSpc>
                <a:spcPct val="104000"/>
              </a:lnSpc>
              <a:buNone/>
            </a:pPr>
            <a:r>
              <a:rPr lang="en-US" sz="1300" kern="0" spc="-26" dirty="0">
                <a:solidFill>
                  <a:srgbClr val="3A3A3A"/>
                </a:solidFill>
                <a:latin typeface="Noto Serif Medium" pitchFamily="34" charset="0"/>
                <a:ea typeface="Noto Serif Medium" pitchFamily="34" charset="-122"/>
                <a:cs typeface="Noto Serif Medium" pitchFamily="34" charset="-120"/>
              </a:rPr>
              <a:t>Machine Learning Role</a:t>
            </a:r>
            <a:endParaRPr lang="en-US" sz="1300" dirty="0"/>
          </a:p>
        </p:txBody>
      </p:sp>
      <p:sp>
        <p:nvSpPr>
          <p:cNvPr id="4" name="Text 2"/>
          <p:cNvSpPr/>
          <p:nvPr/>
        </p:nvSpPr>
        <p:spPr>
          <a:xfrm>
            <a:off x="661475" y="1470025"/>
            <a:ext cx="5270467" cy="584299"/>
          </a:xfrm>
          <a:prstGeom prst="rect">
            <a:avLst/>
          </a:prstGeom>
          <a:noFill/>
          <a:ln/>
        </p:spPr>
        <p:txBody>
          <a:bodyPr wrap="square" lIns="0" tIns="0" rIns="0" bIns="0" rtlCol="0" anchor="t">
            <a:normAutofit/>
          </a:bodyPr>
          <a:lstStyle/>
          <a:p>
            <a:pPr marL="0" indent="0" algn="l">
              <a:lnSpc>
                <a:spcPct val="121000"/>
              </a:lnSpc>
              <a:buNone/>
            </a:pPr>
            <a:r>
              <a:rPr lang="en-US" sz="1050" dirty="0">
                <a:solidFill>
                  <a:srgbClr val="4C4C4C"/>
                </a:solidFill>
                <a:latin typeface="Noto Serif" pitchFamily="34" charset="0"/>
                <a:ea typeface="Noto Serif" pitchFamily="34" charset="-122"/>
                <a:cs typeface="Noto Serif" pitchFamily="34" charset="-120"/>
              </a:rPr>
              <a:t>The ML component learns normal sensor behavior patterns from historical data, then detects deviations and automatically classifies observations as </a:t>
            </a:r>
            <a:r>
              <a:rPr lang="en-US" sz="1050" b="1" dirty="0">
                <a:solidFill>
                  <a:srgbClr val="4C4C4C"/>
                </a:solidFill>
                <a:latin typeface="Noto Serif Bold" pitchFamily="34" charset="0"/>
                <a:ea typeface="Noto Serif Bold" pitchFamily="34" charset="-122"/>
                <a:cs typeface="Noto Serif Bold" pitchFamily="34" charset="-120"/>
              </a:rPr>
              <a:t>normal</a:t>
            </a:r>
            <a:r>
              <a:rPr lang="en-US" sz="1050" dirty="0">
                <a:solidFill>
                  <a:srgbClr val="4C4C4C"/>
                </a:solidFill>
                <a:latin typeface="Noto Serif" pitchFamily="34" charset="0"/>
                <a:ea typeface="Noto Serif" pitchFamily="34" charset="-122"/>
                <a:cs typeface="Noto Serif" pitchFamily="34" charset="-120"/>
              </a:rPr>
              <a:t> or </a:t>
            </a:r>
            <a:r>
              <a:rPr lang="en-US" sz="1050" b="1" dirty="0">
                <a:solidFill>
                  <a:srgbClr val="4C4C4C"/>
                </a:solidFill>
                <a:latin typeface="Noto Serif Bold" pitchFamily="34" charset="0"/>
                <a:ea typeface="Noto Serif Bold" pitchFamily="34" charset="-122"/>
                <a:cs typeface="Noto Serif Bold" pitchFamily="34" charset="-120"/>
              </a:rPr>
              <a:t>anomalous</a:t>
            </a:r>
            <a:r>
              <a:rPr lang="en-US" sz="1050" dirty="0">
                <a:solidFill>
                  <a:srgbClr val="4C4C4C"/>
                </a:solidFill>
                <a:latin typeface="Noto Serif" pitchFamily="34" charset="0"/>
                <a:ea typeface="Noto Serif" pitchFamily="34" charset="-122"/>
                <a:cs typeface="Noto Serif" pitchFamily="34" charset="-120"/>
              </a:rPr>
              <a:t>. This eliminates the need for manually defined thresholds.</a:t>
            </a:r>
            <a:endParaRPr lang="en-US" sz="1050" dirty="0"/>
          </a:p>
        </p:txBody>
      </p:sp>
      <p:sp>
        <p:nvSpPr>
          <p:cNvPr id="5" name="Text 3"/>
          <p:cNvSpPr/>
          <p:nvPr/>
        </p:nvSpPr>
        <p:spPr>
          <a:xfrm>
            <a:off x="661475" y="2163465"/>
            <a:ext cx="5270467" cy="209947"/>
          </a:xfrm>
          <a:prstGeom prst="rect">
            <a:avLst/>
          </a:prstGeom>
          <a:noFill/>
          <a:ln/>
        </p:spPr>
        <p:txBody>
          <a:bodyPr wrap="none" lIns="0" tIns="0" rIns="0" bIns="0" rtlCol="0" anchor="t"/>
          <a:lstStyle/>
          <a:p>
            <a:pPr marL="0" indent="0" algn="l">
              <a:lnSpc>
                <a:spcPct val="104000"/>
              </a:lnSpc>
              <a:buNone/>
            </a:pPr>
            <a:r>
              <a:rPr lang="en-US" sz="1300" kern="0" spc="-26" dirty="0">
                <a:solidFill>
                  <a:srgbClr val="3A3A3A"/>
                </a:solidFill>
                <a:latin typeface="Noto Serif Medium" pitchFamily="34" charset="0"/>
                <a:ea typeface="Noto Serif Medium" pitchFamily="34" charset="-122"/>
                <a:cs typeface="Noto Serif Medium" pitchFamily="34" charset="-120"/>
              </a:rPr>
              <a:t>Possible Detection Approaches</a:t>
            </a:r>
            <a:endParaRPr lang="en-US" sz="1300" dirty="0"/>
          </a:p>
        </p:txBody>
      </p:sp>
      <p:sp>
        <p:nvSpPr>
          <p:cNvPr id="6" name="Shape 4"/>
          <p:cNvSpPr/>
          <p:nvPr/>
        </p:nvSpPr>
        <p:spPr>
          <a:xfrm>
            <a:off x="661475" y="2496245"/>
            <a:ext cx="2580615" cy="516731"/>
          </a:xfrm>
          <a:prstGeom prst="roundRect">
            <a:avLst>
              <a:gd name="adj" fmla="val 10922"/>
            </a:avLst>
          </a:prstGeom>
          <a:solidFill>
            <a:srgbClr val="FDFBF7"/>
          </a:solidFill>
          <a:ln w="19050">
            <a:solidFill>
              <a:srgbClr val="E6DED2"/>
            </a:solidFill>
            <a:prstDash val="solid"/>
          </a:ln>
          <a:effectLst>
            <a:outerShdw blurRad="127" dist="17780" dir="2700000" algn="bl" rotWithShape="0">
              <a:srgbClr val="E6DED2">
                <a:alpha val="100000"/>
              </a:srgbClr>
            </a:outerShdw>
          </a:effectLst>
        </p:spPr>
      </p:sp>
      <p:sp>
        <p:nvSpPr>
          <p:cNvPr id="7" name="Text 5"/>
          <p:cNvSpPr/>
          <p:nvPr/>
        </p:nvSpPr>
        <p:spPr>
          <a:xfrm>
            <a:off x="814863" y="2649637"/>
            <a:ext cx="2273838" cy="209947"/>
          </a:xfrm>
          <a:prstGeom prst="rect">
            <a:avLst/>
          </a:prstGeom>
          <a:noFill/>
          <a:ln/>
        </p:spPr>
        <p:txBody>
          <a:bodyPr wrap="none" lIns="0" tIns="0" rIns="0" bIns="0" rtlCol="0" anchor="t"/>
          <a:lstStyle/>
          <a:p>
            <a:pPr marL="0" indent="0" algn="l">
              <a:lnSpc>
                <a:spcPct val="104000"/>
              </a:lnSpc>
              <a:buNone/>
            </a:pPr>
            <a:r>
              <a:rPr lang="en-US" sz="1300" kern="0" spc="-26" dirty="0">
                <a:solidFill>
                  <a:srgbClr val="4C4C4C"/>
                </a:solidFill>
                <a:latin typeface="Noto Serif Medium" pitchFamily="34" charset="0"/>
                <a:ea typeface="Noto Serif Medium" pitchFamily="34" charset="-122"/>
                <a:cs typeface="Noto Serif Medium" pitchFamily="34" charset="-120"/>
              </a:rPr>
              <a:t>Isolation Forest</a:t>
            </a:r>
            <a:endParaRPr lang="en-US" sz="1300" dirty="0"/>
          </a:p>
        </p:txBody>
      </p:sp>
      <p:sp>
        <p:nvSpPr>
          <p:cNvPr id="8" name="Shape 6"/>
          <p:cNvSpPr/>
          <p:nvPr/>
        </p:nvSpPr>
        <p:spPr>
          <a:xfrm>
            <a:off x="3351228" y="2496245"/>
            <a:ext cx="2580714" cy="516731"/>
          </a:xfrm>
          <a:prstGeom prst="roundRect">
            <a:avLst>
              <a:gd name="adj" fmla="val 10922"/>
            </a:avLst>
          </a:prstGeom>
          <a:solidFill>
            <a:srgbClr val="FDFBF7"/>
          </a:solidFill>
          <a:ln w="19050">
            <a:solidFill>
              <a:srgbClr val="E6DED2"/>
            </a:solidFill>
            <a:prstDash val="solid"/>
          </a:ln>
          <a:effectLst>
            <a:outerShdw blurRad="127" dist="17780" dir="2700000" algn="bl" rotWithShape="0">
              <a:srgbClr val="E6DED2">
                <a:alpha val="100000"/>
              </a:srgbClr>
            </a:outerShdw>
          </a:effectLst>
        </p:spPr>
      </p:sp>
      <p:sp>
        <p:nvSpPr>
          <p:cNvPr id="9" name="Text 7"/>
          <p:cNvSpPr/>
          <p:nvPr/>
        </p:nvSpPr>
        <p:spPr>
          <a:xfrm>
            <a:off x="3504616" y="2649637"/>
            <a:ext cx="2273938" cy="209947"/>
          </a:xfrm>
          <a:prstGeom prst="rect">
            <a:avLst/>
          </a:prstGeom>
          <a:noFill/>
          <a:ln/>
        </p:spPr>
        <p:txBody>
          <a:bodyPr wrap="none" lIns="0" tIns="0" rIns="0" bIns="0" rtlCol="0" anchor="t"/>
          <a:lstStyle/>
          <a:p>
            <a:pPr marL="0" indent="0" algn="l">
              <a:lnSpc>
                <a:spcPct val="104000"/>
              </a:lnSpc>
              <a:buNone/>
            </a:pPr>
            <a:r>
              <a:rPr lang="en-US" sz="1300" kern="0" spc="-26" dirty="0">
                <a:solidFill>
                  <a:srgbClr val="4C4C4C"/>
                </a:solidFill>
                <a:latin typeface="Noto Serif Medium" pitchFamily="34" charset="0"/>
                <a:ea typeface="Noto Serif Medium" pitchFamily="34" charset="-122"/>
                <a:cs typeface="Noto Serif Medium" pitchFamily="34" charset="-120"/>
              </a:rPr>
              <a:t>One-Class SVM</a:t>
            </a:r>
            <a:endParaRPr lang="en-US" sz="1300" dirty="0"/>
          </a:p>
        </p:txBody>
      </p:sp>
      <p:sp>
        <p:nvSpPr>
          <p:cNvPr id="10" name="Shape 8"/>
          <p:cNvSpPr/>
          <p:nvPr/>
        </p:nvSpPr>
        <p:spPr>
          <a:xfrm>
            <a:off x="661475" y="3122116"/>
            <a:ext cx="2580615" cy="516731"/>
          </a:xfrm>
          <a:prstGeom prst="roundRect">
            <a:avLst>
              <a:gd name="adj" fmla="val 10922"/>
            </a:avLst>
          </a:prstGeom>
          <a:solidFill>
            <a:srgbClr val="FDFBF7"/>
          </a:solidFill>
          <a:ln w="19050">
            <a:solidFill>
              <a:srgbClr val="E6DED2"/>
            </a:solidFill>
            <a:prstDash val="solid"/>
          </a:ln>
          <a:effectLst>
            <a:outerShdw blurRad="127" dist="17780" dir="2700000" algn="bl" rotWithShape="0">
              <a:srgbClr val="E6DED2">
                <a:alpha val="100000"/>
              </a:srgbClr>
            </a:outerShdw>
          </a:effectLst>
        </p:spPr>
      </p:sp>
      <p:sp>
        <p:nvSpPr>
          <p:cNvPr id="11" name="Text 9"/>
          <p:cNvSpPr/>
          <p:nvPr/>
        </p:nvSpPr>
        <p:spPr>
          <a:xfrm>
            <a:off x="814863" y="3275509"/>
            <a:ext cx="2273838" cy="209947"/>
          </a:xfrm>
          <a:prstGeom prst="rect">
            <a:avLst/>
          </a:prstGeom>
          <a:noFill/>
          <a:ln/>
        </p:spPr>
        <p:txBody>
          <a:bodyPr wrap="none" lIns="0" tIns="0" rIns="0" bIns="0" rtlCol="0" anchor="t"/>
          <a:lstStyle/>
          <a:p>
            <a:pPr marL="0" indent="0" algn="l">
              <a:lnSpc>
                <a:spcPct val="104000"/>
              </a:lnSpc>
              <a:buNone/>
            </a:pPr>
            <a:r>
              <a:rPr lang="en-US" sz="1300" kern="0" spc="-26" dirty="0">
                <a:solidFill>
                  <a:srgbClr val="4C4C4C"/>
                </a:solidFill>
                <a:latin typeface="Noto Serif Medium" pitchFamily="34" charset="0"/>
                <a:ea typeface="Noto Serif Medium" pitchFamily="34" charset="-122"/>
                <a:cs typeface="Noto Serif Medium" pitchFamily="34" charset="-120"/>
              </a:rPr>
              <a:t>Local Outlier Factor</a:t>
            </a:r>
            <a:endParaRPr lang="en-US" sz="1300" dirty="0"/>
          </a:p>
        </p:txBody>
      </p:sp>
      <p:sp>
        <p:nvSpPr>
          <p:cNvPr id="12" name="Shape 10"/>
          <p:cNvSpPr/>
          <p:nvPr/>
        </p:nvSpPr>
        <p:spPr>
          <a:xfrm>
            <a:off x="3351228" y="3122116"/>
            <a:ext cx="2580714" cy="516731"/>
          </a:xfrm>
          <a:prstGeom prst="roundRect">
            <a:avLst>
              <a:gd name="adj" fmla="val 10922"/>
            </a:avLst>
          </a:prstGeom>
          <a:solidFill>
            <a:srgbClr val="FDFBF7"/>
          </a:solidFill>
          <a:ln w="19050">
            <a:solidFill>
              <a:srgbClr val="E6DED2"/>
            </a:solidFill>
            <a:prstDash val="solid"/>
          </a:ln>
          <a:effectLst>
            <a:outerShdw blurRad="127" dist="17780" dir="2700000" algn="bl" rotWithShape="0">
              <a:srgbClr val="E6DED2">
                <a:alpha val="100000"/>
              </a:srgbClr>
            </a:outerShdw>
          </a:effectLst>
        </p:spPr>
      </p:sp>
      <p:sp>
        <p:nvSpPr>
          <p:cNvPr id="13" name="Text 11"/>
          <p:cNvSpPr/>
          <p:nvPr/>
        </p:nvSpPr>
        <p:spPr>
          <a:xfrm>
            <a:off x="3504616" y="3275509"/>
            <a:ext cx="2273938" cy="209947"/>
          </a:xfrm>
          <a:prstGeom prst="rect">
            <a:avLst/>
          </a:prstGeom>
          <a:noFill/>
          <a:ln/>
        </p:spPr>
        <p:txBody>
          <a:bodyPr wrap="none" lIns="0" tIns="0" rIns="0" bIns="0" rtlCol="0" anchor="t"/>
          <a:lstStyle/>
          <a:p>
            <a:pPr marL="0" indent="0" algn="l">
              <a:lnSpc>
                <a:spcPct val="104000"/>
              </a:lnSpc>
              <a:buNone/>
            </a:pPr>
            <a:r>
              <a:rPr lang="en-US" sz="1300" kern="0" spc="-26" dirty="0">
                <a:solidFill>
                  <a:srgbClr val="4C4C4C"/>
                </a:solidFill>
                <a:latin typeface="Noto Serif Medium" pitchFamily="34" charset="0"/>
                <a:ea typeface="Noto Serif Medium" pitchFamily="34" charset="-122"/>
                <a:cs typeface="Noto Serif Medium" pitchFamily="34" charset="-120"/>
              </a:rPr>
              <a:t>Clustering-Based</a:t>
            </a:r>
            <a:endParaRPr lang="en-US" sz="1300" dirty="0"/>
          </a:p>
        </p:txBody>
      </p:sp>
      <p:sp>
        <p:nvSpPr>
          <p:cNvPr id="14" name="Shape 12"/>
          <p:cNvSpPr/>
          <p:nvPr/>
        </p:nvSpPr>
        <p:spPr>
          <a:xfrm>
            <a:off x="661475" y="3747988"/>
            <a:ext cx="5270467" cy="516731"/>
          </a:xfrm>
          <a:prstGeom prst="roundRect">
            <a:avLst>
              <a:gd name="adj" fmla="val 10922"/>
            </a:avLst>
          </a:prstGeom>
          <a:solidFill>
            <a:srgbClr val="FDFBF7"/>
          </a:solidFill>
          <a:ln w="19050">
            <a:solidFill>
              <a:srgbClr val="E6DED2"/>
            </a:solidFill>
            <a:prstDash val="solid"/>
          </a:ln>
          <a:effectLst>
            <a:outerShdw blurRad="127" dist="17780" dir="2700000" algn="bl" rotWithShape="0">
              <a:srgbClr val="E6DED2">
                <a:alpha val="100000"/>
              </a:srgbClr>
            </a:outerShdw>
          </a:effectLst>
        </p:spPr>
      </p:sp>
      <p:sp>
        <p:nvSpPr>
          <p:cNvPr id="15" name="Text 13"/>
          <p:cNvSpPr/>
          <p:nvPr/>
        </p:nvSpPr>
        <p:spPr>
          <a:xfrm>
            <a:off x="814863" y="3901380"/>
            <a:ext cx="4963691" cy="209947"/>
          </a:xfrm>
          <a:prstGeom prst="rect">
            <a:avLst/>
          </a:prstGeom>
          <a:noFill/>
          <a:ln/>
        </p:spPr>
        <p:txBody>
          <a:bodyPr wrap="none" lIns="0" tIns="0" rIns="0" bIns="0" rtlCol="0" anchor="t"/>
          <a:lstStyle/>
          <a:p>
            <a:pPr marL="0" indent="0" algn="l">
              <a:lnSpc>
                <a:spcPct val="104000"/>
              </a:lnSpc>
              <a:buNone/>
            </a:pPr>
            <a:r>
              <a:rPr lang="en-US" sz="1300" kern="0" spc="-26" dirty="0">
                <a:solidFill>
                  <a:srgbClr val="4C4C4C"/>
                </a:solidFill>
                <a:latin typeface="Noto Serif Medium" pitchFamily="34" charset="0"/>
                <a:ea typeface="Noto Serif Medium" pitchFamily="34" charset="-122"/>
                <a:cs typeface="Noto Serif Medium" pitchFamily="34" charset="-120"/>
              </a:rPr>
              <a:t>Autoencoder Models</a:t>
            </a:r>
            <a:endParaRPr lang="en-US" sz="1300" dirty="0"/>
          </a:p>
        </p:txBody>
      </p:sp>
      <p:sp>
        <p:nvSpPr>
          <p:cNvPr id="16" name="Text 14"/>
          <p:cNvSpPr/>
          <p:nvPr/>
        </p:nvSpPr>
        <p:spPr>
          <a:xfrm>
            <a:off x="661475" y="4387552"/>
            <a:ext cx="5270467" cy="584299"/>
          </a:xfrm>
          <a:prstGeom prst="rect">
            <a:avLst/>
          </a:prstGeom>
          <a:noFill/>
          <a:ln/>
        </p:spPr>
        <p:txBody>
          <a:bodyPr wrap="square" lIns="0" tIns="0" rIns="0" bIns="0" rtlCol="0" anchor="t">
            <a:normAutofit/>
          </a:bodyPr>
          <a:lstStyle/>
          <a:p>
            <a:pPr marL="0" indent="0" algn="l">
              <a:lnSpc>
                <a:spcPct val="121000"/>
              </a:lnSpc>
              <a:buNone/>
            </a:pPr>
            <a:r>
              <a:rPr lang="en-US" sz="1050" dirty="0">
                <a:solidFill>
                  <a:srgbClr val="4C4C4C"/>
                </a:solidFill>
                <a:latin typeface="Noto Serif" pitchFamily="34" charset="0"/>
                <a:ea typeface="Noto Serif" pitchFamily="34" charset="-122"/>
                <a:cs typeface="Noto Serif" pitchFamily="34" charset="-120"/>
              </a:rPr>
              <a:t>These represent candidate approaches for the system design. The selection of a specific algorithm depends on data characteristics, computational constraints, and detection requirements.</a:t>
            </a:r>
            <a:endParaRPr lang="en-US" sz="1050" dirty="0"/>
          </a:p>
        </p:txBody>
      </p:sp>
      <p:sp>
        <p:nvSpPr>
          <p:cNvPr id="17" name="Shape 15"/>
          <p:cNvSpPr/>
          <p:nvPr/>
        </p:nvSpPr>
        <p:spPr>
          <a:xfrm>
            <a:off x="6169367" y="1041797"/>
            <a:ext cx="5463939" cy="4431010"/>
          </a:xfrm>
          <a:prstGeom prst="roundRect">
            <a:avLst>
              <a:gd name="adj" fmla="val 2184"/>
            </a:avLst>
          </a:prstGeom>
          <a:solidFill>
            <a:srgbClr val="9C9283"/>
          </a:solidFill>
          <a:ln/>
        </p:spPr>
      </p:sp>
      <p:sp>
        <p:nvSpPr>
          <p:cNvPr id="18" name="Text 16"/>
          <p:cNvSpPr/>
          <p:nvPr/>
        </p:nvSpPr>
        <p:spPr>
          <a:xfrm>
            <a:off x="6303706" y="1150938"/>
            <a:ext cx="5195261" cy="209947"/>
          </a:xfrm>
          <a:prstGeom prst="rect">
            <a:avLst/>
          </a:prstGeom>
          <a:noFill/>
          <a:ln/>
        </p:spPr>
        <p:txBody>
          <a:bodyPr wrap="none" lIns="0" tIns="0" rIns="0" bIns="0" rtlCol="0" anchor="t"/>
          <a:lstStyle/>
          <a:p>
            <a:pPr marL="0" indent="0" algn="l">
              <a:lnSpc>
                <a:spcPct val="104000"/>
              </a:lnSpc>
              <a:buNone/>
            </a:pPr>
            <a:r>
              <a:rPr lang="en-US" sz="1300" kern="0" spc="-26" dirty="0">
                <a:solidFill>
                  <a:srgbClr val="000000"/>
                </a:solidFill>
                <a:latin typeface="Noto Serif Medium" pitchFamily="34" charset="0"/>
                <a:ea typeface="Noto Serif Medium" pitchFamily="34" charset="-122"/>
                <a:cs typeface="Noto Serif Medium" pitchFamily="34" charset="-120"/>
              </a:rPr>
              <a:t>Anomaly Categories</a:t>
            </a:r>
            <a:endParaRPr lang="en-US" sz="1300" dirty="0"/>
          </a:p>
        </p:txBody>
      </p:sp>
      <p:sp>
        <p:nvSpPr>
          <p:cNvPr id="19" name="Shape 17"/>
          <p:cNvSpPr/>
          <p:nvPr/>
        </p:nvSpPr>
        <p:spPr>
          <a:xfrm>
            <a:off x="6303706" y="1483717"/>
            <a:ext cx="302312" cy="302320"/>
          </a:xfrm>
          <a:prstGeom prst="roundRect">
            <a:avLst>
              <a:gd name="adj" fmla="val 18669"/>
            </a:avLst>
          </a:prstGeom>
          <a:solidFill>
            <a:srgbClr val="E6DED2">
              <a:alpha val="50000"/>
            </a:srgbClr>
          </a:solidFill>
          <a:ln w="6350">
            <a:solidFill>
              <a:srgbClr val="CCC4B8"/>
            </a:solidFill>
            <a:prstDash val="solid"/>
          </a:ln>
          <a:effectLst>
            <a:outerShdw blurRad="127" dist="17780" dir="2700000" algn="bl" rotWithShape="0">
              <a:srgbClr val="CCC4B8">
                <a:alpha val="100000"/>
              </a:srgbClr>
            </a:outerShdw>
          </a:effectLst>
        </p:spPr>
      </p:sp>
      <p:sp>
        <p:nvSpPr>
          <p:cNvPr id="20" name="Text 18"/>
          <p:cNvSpPr/>
          <p:nvPr/>
        </p:nvSpPr>
        <p:spPr>
          <a:xfrm>
            <a:off x="6715155" y="1529854"/>
            <a:ext cx="4783812" cy="209947"/>
          </a:xfrm>
          <a:prstGeom prst="rect">
            <a:avLst/>
          </a:prstGeom>
          <a:noFill/>
          <a:ln/>
        </p:spPr>
        <p:txBody>
          <a:bodyPr wrap="none" lIns="0" tIns="0" rIns="0" bIns="0" rtlCol="0" anchor="t"/>
          <a:lstStyle/>
          <a:p>
            <a:pPr marL="0" indent="0" algn="l">
              <a:lnSpc>
                <a:spcPct val="104000"/>
              </a:lnSpc>
              <a:buNone/>
            </a:pPr>
            <a:r>
              <a:rPr lang="en-US" sz="1300" kern="0" spc="-26" dirty="0">
                <a:solidFill>
                  <a:srgbClr val="000000"/>
                </a:solidFill>
                <a:latin typeface="Noto Serif Medium" pitchFamily="34" charset="0"/>
                <a:ea typeface="Noto Serif Medium" pitchFamily="34" charset="-122"/>
                <a:cs typeface="Noto Serif Medium" pitchFamily="34" charset="-120"/>
              </a:rPr>
              <a:t>Point Anomaly</a:t>
            </a:r>
            <a:endParaRPr lang="en-US" sz="1300" dirty="0"/>
          </a:p>
        </p:txBody>
      </p:sp>
      <p:sp>
        <p:nvSpPr>
          <p:cNvPr id="21" name="Text 19"/>
          <p:cNvSpPr/>
          <p:nvPr/>
        </p:nvSpPr>
        <p:spPr>
          <a:xfrm>
            <a:off x="6715155" y="1848941"/>
            <a:ext cx="4783812" cy="389533"/>
          </a:xfrm>
          <a:prstGeom prst="rect">
            <a:avLst/>
          </a:prstGeom>
          <a:noFill/>
          <a:ln/>
        </p:spPr>
        <p:txBody>
          <a:bodyPr wrap="square" lIns="0" tIns="0" rIns="0" bIns="0" rtlCol="0" anchor="t">
            <a:normAutofit/>
          </a:bodyPr>
          <a:lstStyle/>
          <a:p>
            <a:pPr marL="0" indent="0" algn="l">
              <a:lnSpc>
                <a:spcPct val="121000"/>
              </a:lnSpc>
              <a:buNone/>
            </a:pPr>
            <a:r>
              <a:rPr lang="en-US" sz="1050" dirty="0">
                <a:solidFill>
                  <a:srgbClr val="000000"/>
                </a:solidFill>
                <a:latin typeface="Noto Serif" pitchFamily="34" charset="0"/>
                <a:ea typeface="Noto Serif" pitchFamily="34" charset="-122"/>
                <a:cs typeface="Noto Serif" pitchFamily="34" charset="-120"/>
              </a:rPr>
              <a:t>A single sensor reading that is significantly different from normal behavior — the most common and straightforward anomaly type.</a:t>
            </a:r>
            <a:endParaRPr lang="en-US" sz="1050" dirty="0"/>
          </a:p>
        </p:txBody>
      </p:sp>
      <p:sp>
        <p:nvSpPr>
          <p:cNvPr id="22" name="Shape 20"/>
          <p:cNvSpPr/>
          <p:nvPr/>
        </p:nvSpPr>
        <p:spPr>
          <a:xfrm>
            <a:off x="6303706" y="2456755"/>
            <a:ext cx="302312" cy="302320"/>
          </a:xfrm>
          <a:prstGeom prst="roundRect">
            <a:avLst>
              <a:gd name="adj" fmla="val 18669"/>
            </a:avLst>
          </a:prstGeom>
          <a:solidFill>
            <a:srgbClr val="E6DED2">
              <a:alpha val="50000"/>
            </a:srgbClr>
          </a:solidFill>
          <a:ln w="6350">
            <a:solidFill>
              <a:srgbClr val="CCC4B8"/>
            </a:solidFill>
            <a:prstDash val="solid"/>
          </a:ln>
          <a:effectLst>
            <a:outerShdw blurRad="127" dist="17780" dir="2700000" algn="bl" rotWithShape="0">
              <a:srgbClr val="CCC4B8">
                <a:alpha val="100000"/>
              </a:srgbClr>
            </a:outerShdw>
          </a:effectLst>
        </p:spPr>
      </p:sp>
      <p:sp>
        <p:nvSpPr>
          <p:cNvPr id="23" name="Text 21"/>
          <p:cNvSpPr/>
          <p:nvPr/>
        </p:nvSpPr>
        <p:spPr>
          <a:xfrm>
            <a:off x="6715155" y="2502892"/>
            <a:ext cx="4783812" cy="209947"/>
          </a:xfrm>
          <a:prstGeom prst="rect">
            <a:avLst/>
          </a:prstGeom>
          <a:noFill/>
          <a:ln/>
        </p:spPr>
        <p:txBody>
          <a:bodyPr wrap="none" lIns="0" tIns="0" rIns="0" bIns="0" rtlCol="0" anchor="t"/>
          <a:lstStyle/>
          <a:p>
            <a:pPr marL="0" indent="0" algn="l">
              <a:lnSpc>
                <a:spcPct val="104000"/>
              </a:lnSpc>
              <a:buNone/>
            </a:pPr>
            <a:r>
              <a:rPr lang="en-US" sz="1300" kern="0" spc="-26" dirty="0">
                <a:solidFill>
                  <a:srgbClr val="000000"/>
                </a:solidFill>
                <a:latin typeface="Noto Serif Medium" pitchFamily="34" charset="0"/>
                <a:ea typeface="Noto Serif Medium" pitchFamily="34" charset="-122"/>
                <a:cs typeface="Noto Serif Medium" pitchFamily="34" charset="-120"/>
              </a:rPr>
              <a:t>Contextual Anomaly</a:t>
            </a:r>
            <a:endParaRPr lang="en-US" sz="1300" dirty="0"/>
          </a:p>
        </p:txBody>
      </p:sp>
      <p:sp>
        <p:nvSpPr>
          <p:cNvPr id="24" name="Text 22"/>
          <p:cNvSpPr/>
          <p:nvPr/>
        </p:nvSpPr>
        <p:spPr>
          <a:xfrm>
            <a:off x="6715155" y="2821980"/>
            <a:ext cx="4783812" cy="584299"/>
          </a:xfrm>
          <a:prstGeom prst="rect">
            <a:avLst/>
          </a:prstGeom>
          <a:noFill/>
          <a:ln/>
        </p:spPr>
        <p:txBody>
          <a:bodyPr wrap="square" lIns="0" tIns="0" rIns="0" bIns="0" rtlCol="0" anchor="t">
            <a:normAutofit/>
          </a:bodyPr>
          <a:lstStyle/>
          <a:p>
            <a:pPr marL="0" indent="0" algn="l">
              <a:lnSpc>
                <a:spcPct val="121000"/>
              </a:lnSpc>
              <a:buNone/>
            </a:pPr>
            <a:r>
              <a:rPr lang="en-US" sz="1050" dirty="0">
                <a:solidFill>
                  <a:srgbClr val="000000"/>
                </a:solidFill>
                <a:latin typeface="Noto Serif" pitchFamily="34" charset="0"/>
                <a:ea typeface="Noto Serif" pitchFamily="34" charset="-122"/>
                <a:cs typeface="Noto Serif" pitchFamily="34" charset="-120"/>
              </a:rPr>
              <a:t>A reading that appears normal in isolation but is anomalous given its context — for example, a temperature reading that is unusual for a specific time of day or operational state.</a:t>
            </a:r>
            <a:endParaRPr lang="en-US" sz="1050" dirty="0"/>
          </a:p>
        </p:txBody>
      </p:sp>
      <p:sp>
        <p:nvSpPr>
          <p:cNvPr id="25" name="Shape 23"/>
          <p:cNvSpPr/>
          <p:nvPr/>
        </p:nvSpPr>
        <p:spPr>
          <a:xfrm>
            <a:off x="6303706" y="3624560"/>
            <a:ext cx="302312" cy="302320"/>
          </a:xfrm>
          <a:prstGeom prst="roundRect">
            <a:avLst>
              <a:gd name="adj" fmla="val 18669"/>
            </a:avLst>
          </a:prstGeom>
          <a:solidFill>
            <a:srgbClr val="E6DED2">
              <a:alpha val="50000"/>
            </a:srgbClr>
          </a:solidFill>
          <a:ln w="6350">
            <a:solidFill>
              <a:srgbClr val="CCC4B8"/>
            </a:solidFill>
            <a:prstDash val="solid"/>
          </a:ln>
          <a:effectLst>
            <a:outerShdw blurRad="127" dist="17780" dir="2700000" algn="bl" rotWithShape="0">
              <a:srgbClr val="CCC4B8">
                <a:alpha val="100000"/>
              </a:srgbClr>
            </a:outerShdw>
          </a:effectLst>
        </p:spPr>
      </p:sp>
      <p:sp>
        <p:nvSpPr>
          <p:cNvPr id="26" name="Text 24"/>
          <p:cNvSpPr/>
          <p:nvPr/>
        </p:nvSpPr>
        <p:spPr>
          <a:xfrm>
            <a:off x="6715155" y="3670697"/>
            <a:ext cx="4783812" cy="209947"/>
          </a:xfrm>
          <a:prstGeom prst="rect">
            <a:avLst/>
          </a:prstGeom>
          <a:noFill/>
          <a:ln/>
        </p:spPr>
        <p:txBody>
          <a:bodyPr wrap="none" lIns="0" tIns="0" rIns="0" bIns="0" rtlCol="0" anchor="t"/>
          <a:lstStyle/>
          <a:p>
            <a:pPr marL="0" indent="0" algn="l">
              <a:lnSpc>
                <a:spcPct val="104000"/>
              </a:lnSpc>
              <a:buNone/>
            </a:pPr>
            <a:r>
              <a:rPr lang="en-US" sz="1300" kern="0" spc="-26" dirty="0">
                <a:solidFill>
                  <a:srgbClr val="000000"/>
                </a:solidFill>
                <a:latin typeface="Noto Serif Medium" pitchFamily="34" charset="0"/>
                <a:ea typeface="Noto Serif Medium" pitchFamily="34" charset="-122"/>
                <a:cs typeface="Noto Serif Medium" pitchFamily="34" charset="-120"/>
              </a:rPr>
              <a:t>Collective Anomaly</a:t>
            </a:r>
            <a:endParaRPr lang="en-US" sz="1300" dirty="0"/>
          </a:p>
        </p:txBody>
      </p:sp>
      <p:sp>
        <p:nvSpPr>
          <p:cNvPr id="27" name="Text 25"/>
          <p:cNvSpPr/>
          <p:nvPr/>
        </p:nvSpPr>
        <p:spPr>
          <a:xfrm>
            <a:off x="6715155" y="3989784"/>
            <a:ext cx="4783812" cy="389533"/>
          </a:xfrm>
          <a:prstGeom prst="rect">
            <a:avLst/>
          </a:prstGeom>
          <a:noFill/>
          <a:ln/>
        </p:spPr>
        <p:txBody>
          <a:bodyPr wrap="square" lIns="0" tIns="0" rIns="0" bIns="0" rtlCol="0" anchor="t">
            <a:normAutofit/>
          </a:bodyPr>
          <a:lstStyle/>
          <a:p>
            <a:pPr marL="0" indent="0" algn="l">
              <a:lnSpc>
                <a:spcPct val="121000"/>
              </a:lnSpc>
              <a:buNone/>
            </a:pPr>
            <a:r>
              <a:rPr lang="en-US" sz="1050" dirty="0">
                <a:solidFill>
                  <a:srgbClr val="000000"/>
                </a:solidFill>
                <a:latin typeface="Noto Serif" pitchFamily="34" charset="0"/>
                <a:ea typeface="Noto Serif" pitchFamily="34" charset="-122"/>
                <a:cs typeface="Noto Serif" pitchFamily="34" charset="-120"/>
              </a:rPr>
              <a:t>A sequence or group of readings that together represent abnormal behavior, even if individual readings appear normal in isolation.</a:t>
            </a:r>
            <a:endParaRPr lang="en-US" sz="1050" dirty="0"/>
          </a:p>
        </p:txBody>
      </p:sp>
      <p:sp>
        <p:nvSpPr>
          <p:cNvPr id="28" name="Shape 26"/>
          <p:cNvSpPr/>
          <p:nvPr/>
        </p:nvSpPr>
        <p:spPr>
          <a:xfrm>
            <a:off x="6303706" y="4502150"/>
            <a:ext cx="5195261" cy="847824"/>
          </a:xfrm>
          <a:prstGeom prst="roundRect">
            <a:avLst>
              <a:gd name="adj" fmla="val 6657"/>
            </a:avLst>
          </a:prstGeom>
          <a:solidFill>
            <a:srgbClr val="FCF2B5"/>
          </a:solidFill>
          <a:ln/>
        </p:spPr>
      </p:sp>
      <p:pic>
        <p:nvPicPr>
          <p:cNvPr id="29" name="Image 0" descr="preencoded.png"/>
          <p:cNvPicPr>
            <a:picLocks noChangeAspect="1"/>
          </p:cNvPicPr>
          <p:nvPr/>
        </p:nvPicPr>
        <p:blipFill>
          <a:blip r:embed="rId3"/>
          <a:stretch>
            <a:fillRect/>
          </a:stretch>
        </p:blipFill>
        <p:spPr>
          <a:xfrm>
            <a:off x="6438044" y="4673302"/>
            <a:ext cx="167973" cy="134342"/>
          </a:xfrm>
          <a:prstGeom prst="rect">
            <a:avLst/>
          </a:prstGeom>
        </p:spPr>
      </p:pic>
      <p:sp>
        <p:nvSpPr>
          <p:cNvPr id="30" name="Text 27"/>
          <p:cNvSpPr/>
          <p:nvPr/>
        </p:nvSpPr>
        <p:spPr>
          <a:xfrm>
            <a:off x="6740356" y="4633912"/>
            <a:ext cx="4624272" cy="584299"/>
          </a:xfrm>
          <a:prstGeom prst="rect">
            <a:avLst/>
          </a:prstGeom>
          <a:noFill/>
          <a:ln/>
        </p:spPr>
        <p:txBody>
          <a:bodyPr wrap="square" lIns="0" tIns="0" rIns="0" bIns="0" rtlCol="0" anchor="t">
            <a:normAutofit/>
          </a:bodyPr>
          <a:lstStyle/>
          <a:p>
            <a:pPr marL="0" indent="0" algn="l">
              <a:lnSpc>
                <a:spcPct val="121000"/>
              </a:lnSpc>
              <a:buNone/>
            </a:pPr>
            <a:r>
              <a:rPr lang="en-US" sz="1050" dirty="0">
                <a:solidFill>
                  <a:srgbClr val="000000"/>
                </a:solidFill>
                <a:latin typeface="Noto Serif" pitchFamily="34" charset="0"/>
                <a:ea typeface="Noto Serif" pitchFamily="34" charset="-122"/>
                <a:cs typeface="Noto Serif" pitchFamily="34" charset="-120"/>
              </a:rPr>
              <a:t>Anomaly detection identifies unusual behavior requiring investigation. It does </a:t>
            </a:r>
            <a:r>
              <a:rPr lang="en-US" sz="1050" b="1" dirty="0">
                <a:solidFill>
                  <a:srgbClr val="000000"/>
                </a:solidFill>
                <a:latin typeface="Noto Serif Bold" pitchFamily="34" charset="0"/>
                <a:ea typeface="Noto Serif Bold" pitchFamily="34" charset="-122"/>
                <a:cs typeface="Noto Serif Bold" pitchFamily="34" charset="-120"/>
              </a:rPr>
              <a:t>not</a:t>
            </a:r>
            <a:r>
              <a:rPr lang="en-US" sz="1050" dirty="0">
                <a:solidFill>
                  <a:srgbClr val="000000"/>
                </a:solidFill>
                <a:latin typeface="Noto Serif" pitchFamily="34" charset="0"/>
                <a:ea typeface="Noto Serif" pitchFamily="34" charset="-122"/>
                <a:cs typeface="Noto Serif" pitchFamily="34" charset="-120"/>
              </a:rPr>
              <a:t> automatically diagnose the exact cause of a fault — human investigation remains essential.</a:t>
            </a:r>
            <a:endParaRPr lang="en-US" sz="1050" dirty="0"/>
          </a:p>
        </p:txBody>
      </p:sp>
      <p:sp>
        <p:nvSpPr>
          <p:cNvPr id="31" name="Text 28"/>
          <p:cNvSpPr/>
          <p:nvPr/>
        </p:nvSpPr>
        <p:spPr>
          <a:xfrm>
            <a:off x="661475" y="5636518"/>
            <a:ext cx="10868745" cy="209947"/>
          </a:xfrm>
          <a:prstGeom prst="rect">
            <a:avLst/>
          </a:prstGeom>
          <a:noFill/>
          <a:ln/>
        </p:spPr>
        <p:txBody>
          <a:bodyPr wrap="none" lIns="0" tIns="0" rIns="0" bIns="0" rtlCol="0" anchor="t"/>
          <a:lstStyle/>
          <a:p>
            <a:pPr marL="0" indent="0" algn="l">
              <a:lnSpc>
                <a:spcPct val="104000"/>
              </a:lnSpc>
              <a:buNone/>
            </a:pPr>
            <a:r>
              <a:rPr lang="en-US" sz="1300" kern="0" spc="-26" dirty="0">
                <a:solidFill>
                  <a:srgbClr val="3A3A3A"/>
                </a:solidFill>
                <a:latin typeface="Noto Serif Medium" pitchFamily="34" charset="0"/>
                <a:ea typeface="Noto Serif Medium" pitchFamily="34" charset="-122"/>
                <a:cs typeface="Noto Serif Medium" pitchFamily="34" charset="-120"/>
              </a:rPr>
              <a:t>Anomaly Scoring</a:t>
            </a:r>
            <a:endParaRPr lang="en-US" sz="1300" dirty="0"/>
          </a:p>
        </p:txBody>
      </p:sp>
      <p:sp>
        <p:nvSpPr>
          <p:cNvPr id="32" name="Text 29"/>
          <p:cNvSpPr/>
          <p:nvPr/>
        </p:nvSpPr>
        <p:spPr>
          <a:xfrm>
            <a:off x="661475" y="6010176"/>
            <a:ext cx="10868745" cy="389533"/>
          </a:xfrm>
          <a:prstGeom prst="rect">
            <a:avLst/>
          </a:prstGeom>
          <a:noFill/>
          <a:ln/>
        </p:spPr>
        <p:txBody>
          <a:bodyPr wrap="square" lIns="0" tIns="0" rIns="0" bIns="0" rtlCol="0" anchor="t">
            <a:normAutofit/>
          </a:bodyPr>
          <a:lstStyle/>
          <a:p>
            <a:pPr marL="0" indent="0" algn="l">
              <a:lnSpc>
                <a:spcPct val="121000"/>
              </a:lnSpc>
              <a:buNone/>
            </a:pPr>
            <a:r>
              <a:rPr lang="en-US" sz="1050" dirty="0">
                <a:solidFill>
                  <a:srgbClr val="4C4C4C"/>
                </a:solidFill>
                <a:latin typeface="Noto Serif" pitchFamily="34" charset="0"/>
                <a:ea typeface="Noto Serif" pitchFamily="34" charset="-122"/>
                <a:cs typeface="Noto Serif" pitchFamily="34" charset="-120"/>
              </a:rPr>
              <a:t>Each detected anomaly is assigned a score indicating how different the observation is from expected behavior. Higher scores suggest more unusual patterns and support alert prioritization, enabling operators to focus attention on the most critical deviations first.</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488851"/>
            <a:ext cx="10868745" cy="387648"/>
          </a:xfrm>
          <a:prstGeom prst="rect">
            <a:avLst/>
          </a:prstGeom>
          <a:noFill/>
          <a:ln/>
        </p:spPr>
        <p:txBody>
          <a:bodyPr wrap="none" lIns="0" tIns="0" rIns="0" bIns="0" rtlCol="0" anchor="t"/>
          <a:lstStyle/>
          <a:p>
            <a:pPr marL="0" indent="0" algn="l">
              <a:lnSpc>
                <a:spcPct val="104000"/>
              </a:lnSpc>
              <a:buNone/>
            </a:pPr>
            <a:r>
              <a:rPr lang="en-US" sz="2400" kern="0" spc="-49" dirty="0">
                <a:solidFill>
                  <a:srgbClr val="3A3A3A"/>
                </a:solidFill>
                <a:latin typeface="Noto Serif Medium" pitchFamily="34" charset="0"/>
                <a:ea typeface="Noto Serif Medium" pitchFamily="34" charset="-122"/>
                <a:cs typeface="Noto Serif Medium" pitchFamily="34" charset="-120"/>
              </a:rPr>
              <a:t>Dashboard, Monitoring, and System Benefits</a:t>
            </a:r>
            <a:endParaRPr lang="en-US" sz="2400" dirty="0"/>
          </a:p>
        </p:txBody>
      </p:sp>
      <p:sp>
        <p:nvSpPr>
          <p:cNvPr id="3" name="Text 1"/>
          <p:cNvSpPr/>
          <p:nvPr/>
        </p:nvSpPr>
        <p:spPr>
          <a:xfrm>
            <a:off x="661475" y="1108968"/>
            <a:ext cx="5283068" cy="193774"/>
          </a:xfrm>
          <a:prstGeom prst="rect">
            <a:avLst/>
          </a:prstGeom>
          <a:noFill/>
          <a:ln/>
        </p:spPr>
        <p:txBody>
          <a:bodyPr wrap="none" lIns="0" tIns="0" rIns="0" bIns="0" rtlCol="0" anchor="t"/>
          <a:lstStyle/>
          <a:p>
            <a:pPr marL="0" indent="0" algn="l">
              <a:lnSpc>
                <a:spcPct val="104000"/>
              </a:lnSpc>
              <a:buNone/>
            </a:pPr>
            <a:r>
              <a:rPr lang="en-US" sz="1200" kern="0" spc="-24" dirty="0">
                <a:solidFill>
                  <a:srgbClr val="3A3A3A"/>
                </a:solidFill>
                <a:latin typeface="Noto Serif Medium" pitchFamily="34" charset="0"/>
                <a:ea typeface="Noto Serif Medium" pitchFamily="34" charset="-122"/>
                <a:cs typeface="Noto Serif Medium" pitchFamily="34" charset="-120"/>
              </a:rPr>
              <a:t>Interactive Dashboard Features</a:t>
            </a:r>
            <a:endParaRPr lang="en-US" sz="120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1407319"/>
            <a:ext cx="5283068" cy="907455"/>
          </a:xfrm>
          <a:prstGeom prst="rect">
            <a:avLst/>
          </a:prstGeom>
        </p:spPr>
      </p:pic>
      <p:sp>
        <p:nvSpPr>
          <p:cNvPr id="5" name="Text 2"/>
          <p:cNvSpPr/>
          <p:nvPr/>
        </p:nvSpPr>
        <p:spPr>
          <a:xfrm>
            <a:off x="848994" y="1544042"/>
            <a:ext cx="4958829" cy="193774"/>
          </a:xfrm>
          <a:prstGeom prst="rect">
            <a:avLst/>
          </a:prstGeom>
          <a:noFill/>
          <a:ln/>
        </p:spPr>
        <p:txBody>
          <a:bodyPr wrap="none" lIns="0" tIns="0" rIns="0" bIns="0" rtlCol="0" anchor="t"/>
          <a:lstStyle/>
          <a:p>
            <a:pPr marL="0" indent="0" algn="l">
              <a:lnSpc>
                <a:spcPct val="104000"/>
              </a:lnSpc>
              <a:buNone/>
            </a:pPr>
            <a:r>
              <a:rPr lang="en-US" sz="1200" kern="0" spc="-24" dirty="0">
                <a:solidFill>
                  <a:srgbClr val="4C4C4C"/>
                </a:solidFill>
                <a:latin typeface="Noto Serif Medium" pitchFamily="34" charset="0"/>
                <a:ea typeface="Noto Serif Medium" pitchFamily="34" charset="-122"/>
                <a:cs typeface="Noto Serif Medium" pitchFamily="34" charset="-120"/>
              </a:rPr>
              <a:t>Real-Time Sensor Status</a:t>
            </a:r>
            <a:endParaRPr lang="en-US" sz="1200" dirty="0"/>
          </a:p>
        </p:txBody>
      </p:sp>
      <p:sp>
        <p:nvSpPr>
          <p:cNvPr id="6" name="Text 3"/>
          <p:cNvSpPr/>
          <p:nvPr/>
        </p:nvSpPr>
        <p:spPr>
          <a:xfrm>
            <a:off x="848994" y="1830784"/>
            <a:ext cx="4958829" cy="347266"/>
          </a:xfrm>
          <a:prstGeom prst="rect">
            <a:avLst/>
          </a:prstGeom>
          <a:noFill/>
          <a:ln/>
        </p:spPr>
        <p:txBody>
          <a:bodyPr wrap="square" lIns="0" tIns="0" rIns="0" bIns="0" rtlCol="0" anchor="t">
            <a:normAutofit/>
          </a:bodyPr>
          <a:lstStyle/>
          <a:p>
            <a:pPr marL="0" indent="0" algn="l">
              <a:lnSpc>
                <a:spcPct val="117000"/>
              </a:lnSpc>
              <a:buNone/>
            </a:pPr>
            <a:r>
              <a:rPr lang="en-US" sz="950" dirty="0">
                <a:solidFill>
                  <a:srgbClr val="4C4C4C"/>
                </a:solidFill>
                <a:latin typeface="Noto Serif" pitchFamily="34" charset="0"/>
                <a:ea typeface="Noto Serif" pitchFamily="34" charset="-122"/>
                <a:cs typeface="Noto Serif" pitchFamily="34" charset="-120"/>
              </a:rPr>
              <a:t>Live sensor readings and sensor health status across all connected devices in the IoT network.</a:t>
            </a:r>
            <a:endParaRPr lang="en-US" sz="95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2407741"/>
            <a:ext cx="5283068" cy="907455"/>
          </a:xfrm>
          <a:prstGeom prst="rect">
            <a:avLst/>
          </a:prstGeom>
        </p:spPr>
      </p:pic>
      <p:sp>
        <p:nvSpPr>
          <p:cNvPr id="8" name="Text 4"/>
          <p:cNvSpPr/>
          <p:nvPr/>
        </p:nvSpPr>
        <p:spPr>
          <a:xfrm>
            <a:off x="848994" y="2544465"/>
            <a:ext cx="4958829" cy="193774"/>
          </a:xfrm>
          <a:prstGeom prst="rect">
            <a:avLst/>
          </a:prstGeom>
          <a:noFill/>
          <a:ln/>
        </p:spPr>
        <p:txBody>
          <a:bodyPr wrap="none" lIns="0" tIns="0" rIns="0" bIns="0" rtlCol="0" anchor="t"/>
          <a:lstStyle/>
          <a:p>
            <a:pPr marL="0" indent="0" algn="l">
              <a:lnSpc>
                <a:spcPct val="104000"/>
              </a:lnSpc>
              <a:buNone/>
            </a:pPr>
            <a:r>
              <a:rPr lang="en-US" sz="1200" kern="0" spc="-24" dirty="0">
                <a:solidFill>
                  <a:srgbClr val="4C4C4C"/>
                </a:solidFill>
                <a:latin typeface="Noto Serif Medium" pitchFamily="34" charset="0"/>
                <a:ea typeface="Noto Serif Medium" pitchFamily="34" charset="-122"/>
                <a:cs typeface="Noto Serif Medium" pitchFamily="34" charset="-120"/>
              </a:rPr>
              <a:t>Anomaly Alerts Panel</a:t>
            </a:r>
            <a:endParaRPr lang="en-US" sz="1200" dirty="0"/>
          </a:p>
        </p:txBody>
      </p:sp>
      <p:sp>
        <p:nvSpPr>
          <p:cNvPr id="9" name="Text 5"/>
          <p:cNvSpPr/>
          <p:nvPr/>
        </p:nvSpPr>
        <p:spPr>
          <a:xfrm>
            <a:off x="848994" y="2831207"/>
            <a:ext cx="4958829" cy="347266"/>
          </a:xfrm>
          <a:prstGeom prst="rect">
            <a:avLst/>
          </a:prstGeom>
          <a:noFill/>
          <a:ln/>
        </p:spPr>
        <p:txBody>
          <a:bodyPr wrap="square" lIns="0" tIns="0" rIns="0" bIns="0" rtlCol="0" anchor="t">
            <a:normAutofit/>
          </a:bodyPr>
          <a:lstStyle/>
          <a:p>
            <a:pPr marL="0" indent="0" algn="l">
              <a:lnSpc>
                <a:spcPct val="117000"/>
              </a:lnSpc>
              <a:buNone/>
            </a:pPr>
            <a:r>
              <a:rPr lang="en-US" sz="950" dirty="0">
                <a:solidFill>
                  <a:srgbClr val="4C4C4C"/>
                </a:solidFill>
                <a:latin typeface="Noto Serif" pitchFamily="34" charset="0"/>
                <a:ea typeface="Noto Serif" pitchFamily="34" charset="-122"/>
                <a:cs typeface="Noto Serif" pitchFamily="34" charset="-120"/>
              </a:rPr>
              <a:t>Anomaly alerts with associated anomaly scores and affected sensor parameters, enabling rapid operator response.</a:t>
            </a:r>
            <a:endParaRPr lang="en-US" sz="950" dirty="0"/>
          </a:p>
        </p:txBody>
      </p:sp>
      <p:pic>
        <p:nvPicPr>
          <p:cNvPr id="10"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3408164"/>
            <a:ext cx="5283068" cy="907455"/>
          </a:xfrm>
          <a:prstGeom prst="rect">
            <a:avLst/>
          </a:prstGeom>
        </p:spPr>
      </p:pic>
      <p:sp>
        <p:nvSpPr>
          <p:cNvPr id="11" name="Text 6"/>
          <p:cNvSpPr/>
          <p:nvPr/>
        </p:nvSpPr>
        <p:spPr>
          <a:xfrm>
            <a:off x="848994" y="3544888"/>
            <a:ext cx="4958829" cy="193774"/>
          </a:xfrm>
          <a:prstGeom prst="rect">
            <a:avLst/>
          </a:prstGeom>
          <a:noFill/>
          <a:ln/>
        </p:spPr>
        <p:txBody>
          <a:bodyPr wrap="none" lIns="0" tIns="0" rIns="0" bIns="0" rtlCol="0" anchor="t"/>
          <a:lstStyle/>
          <a:p>
            <a:pPr marL="0" indent="0" algn="l">
              <a:lnSpc>
                <a:spcPct val="104000"/>
              </a:lnSpc>
              <a:buNone/>
            </a:pPr>
            <a:r>
              <a:rPr lang="en-US" sz="1200" kern="0" spc="-24" dirty="0">
                <a:solidFill>
                  <a:srgbClr val="4C4C4C"/>
                </a:solidFill>
                <a:latin typeface="Noto Serif Medium" pitchFamily="34" charset="0"/>
                <a:ea typeface="Noto Serif Medium" pitchFamily="34" charset="-122"/>
                <a:cs typeface="Noto Serif Medium" pitchFamily="34" charset="-120"/>
              </a:rPr>
              <a:t>Historical Trend Analysis</a:t>
            </a:r>
            <a:endParaRPr lang="en-US" sz="1200" dirty="0"/>
          </a:p>
        </p:txBody>
      </p:sp>
      <p:sp>
        <p:nvSpPr>
          <p:cNvPr id="12" name="Text 7"/>
          <p:cNvSpPr/>
          <p:nvPr/>
        </p:nvSpPr>
        <p:spPr>
          <a:xfrm>
            <a:off x="848994" y="3831630"/>
            <a:ext cx="4958829" cy="347266"/>
          </a:xfrm>
          <a:prstGeom prst="rect">
            <a:avLst/>
          </a:prstGeom>
          <a:noFill/>
          <a:ln/>
        </p:spPr>
        <p:txBody>
          <a:bodyPr wrap="square" lIns="0" tIns="0" rIns="0" bIns="0" rtlCol="0" anchor="t">
            <a:normAutofit/>
          </a:bodyPr>
          <a:lstStyle/>
          <a:p>
            <a:pPr marL="0" indent="0" algn="l">
              <a:lnSpc>
                <a:spcPct val="117000"/>
              </a:lnSpc>
              <a:buNone/>
            </a:pPr>
            <a:r>
              <a:rPr lang="en-US" sz="950" dirty="0">
                <a:solidFill>
                  <a:srgbClr val="4C4C4C"/>
                </a:solidFill>
                <a:latin typeface="Noto Serif" pitchFamily="34" charset="0"/>
                <a:ea typeface="Noto Serif" pitchFamily="34" charset="-122"/>
                <a:cs typeface="Noto Serif" pitchFamily="34" charset="-120"/>
              </a:rPr>
              <a:t>Historical sensor trends and pattern analysis for temperature, humidity, pressure, vibration, and energy consumption.</a:t>
            </a:r>
            <a:endParaRPr lang="en-US" sz="950" dirty="0"/>
          </a:p>
        </p:txBody>
      </p:sp>
      <p:pic>
        <p:nvPicPr>
          <p:cNvPr id="13" name="Image 3"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4408587"/>
            <a:ext cx="5283068" cy="907455"/>
          </a:xfrm>
          <a:prstGeom prst="rect">
            <a:avLst/>
          </a:prstGeom>
        </p:spPr>
      </p:pic>
      <p:sp>
        <p:nvSpPr>
          <p:cNvPr id="14" name="Text 8"/>
          <p:cNvSpPr/>
          <p:nvPr/>
        </p:nvSpPr>
        <p:spPr>
          <a:xfrm>
            <a:off x="848994" y="4545310"/>
            <a:ext cx="4958829" cy="193774"/>
          </a:xfrm>
          <a:prstGeom prst="rect">
            <a:avLst/>
          </a:prstGeom>
          <a:noFill/>
          <a:ln/>
        </p:spPr>
        <p:txBody>
          <a:bodyPr wrap="none" lIns="0" tIns="0" rIns="0" bIns="0" rtlCol="0" anchor="t"/>
          <a:lstStyle/>
          <a:p>
            <a:pPr marL="0" indent="0" algn="l">
              <a:lnSpc>
                <a:spcPct val="104000"/>
              </a:lnSpc>
              <a:buNone/>
            </a:pPr>
            <a:r>
              <a:rPr lang="en-US" sz="1200" kern="0" spc="-24" dirty="0">
                <a:solidFill>
                  <a:srgbClr val="4C4C4C"/>
                </a:solidFill>
                <a:latin typeface="Noto Serif Medium" pitchFamily="34" charset="0"/>
                <a:ea typeface="Noto Serif Medium" pitchFamily="34" charset="-122"/>
                <a:cs typeface="Noto Serif Medium" pitchFamily="34" charset="-120"/>
              </a:rPr>
              <a:t>Network-Wide Visibility</a:t>
            </a:r>
            <a:endParaRPr lang="en-US" sz="1200" dirty="0"/>
          </a:p>
        </p:txBody>
      </p:sp>
      <p:sp>
        <p:nvSpPr>
          <p:cNvPr id="15" name="Text 9"/>
          <p:cNvSpPr/>
          <p:nvPr/>
        </p:nvSpPr>
        <p:spPr>
          <a:xfrm>
            <a:off x="848994" y="4832052"/>
            <a:ext cx="4958829" cy="347266"/>
          </a:xfrm>
          <a:prstGeom prst="rect">
            <a:avLst/>
          </a:prstGeom>
          <a:noFill/>
          <a:ln/>
        </p:spPr>
        <p:txBody>
          <a:bodyPr wrap="square" lIns="0" tIns="0" rIns="0" bIns="0" rtlCol="0" anchor="t">
            <a:normAutofit/>
          </a:bodyPr>
          <a:lstStyle/>
          <a:p>
            <a:pPr marL="0" indent="0" algn="l">
              <a:lnSpc>
                <a:spcPct val="117000"/>
              </a:lnSpc>
              <a:buNone/>
            </a:pPr>
            <a:r>
              <a:rPr lang="en-US" sz="950" dirty="0">
                <a:solidFill>
                  <a:srgbClr val="4C4C4C"/>
                </a:solidFill>
                <a:latin typeface="Noto Serif" pitchFamily="34" charset="0"/>
                <a:ea typeface="Noto Serif" pitchFamily="34" charset="-122"/>
                <a:cs typeface="Noto Serif" pitchFamily="34" charset="-120"/>
              </a:rPr>
              <a:t>Centralized visibility into the entire IoT sensor network through a single unified interface.</a:t>
            </a:r>
            <a:endParaRPr lang="en-US" sz="950" dirty="0"/>
          </a:p>
        </p:txBody>
      </p:sp>
      <p:sp>
        <p:nvSpPr>
          <p:cNvPr id="16" name="Text 10"/>
          <p:cNvSpPr/>
          <p:nvPr/>
        </p:nvSpPr>
        <p:spPr>
          <a:xfrm>
            <a:off x="6253502" y="1108968"/>
            <a:ext cx="5283068" cy="193774"/>
          </a:xfrm>
          <a:prstGeom prst="rect">
            <a:avLst/>
          </a:prstGeom>
          <a:noFill/>
          <a:ln/>
        </p:spPr>
        <p:txBody>
          <a:bodyPr wrap="none" lIns="0" tIns="0" rIns="0" bIns="0" rtlCol="0" anchor="t"/>
          <a:lstStyle/>
          <a:p>
            <a:pPr marL="0" indent="0" algn="l">
              <a:lnSpc>
                <a:spcPct val="104000"/>
              </a:lnSpc>
              <a:buNone/>
            </a:pPr>
            <a:r>
              <a:rPr lang="en-US" sz="1200" kern="0" spc="-24" dirty="0">
                <a:solidFill>
                  <a:srgbClr val="3A3A3A"/>
                </a:solidFill>
                <a:latin typeface="Noto Serif Medium" pitchFamily="34" charset="0"/>
                <a:ea typeface="Noto Serif Medium" pitchFamily="34" charset="-122"/>
                <a:cs typeface="Noto Serif Medium" pitchFamily="34" charset="-120"/>
              </a:rPr>
              <a:t>Key System Advantages</a:t>
            </a:r>
            <a:endParaRPr lang="en-US" sz="1200" dirty="0"/>
          </a:p>
        </p:txBody>
      </p:sp>
      <p:sp>
        <p:nvSpPr>
          <p:cNvPr id="17" name="Shape 11"/>
          <p:cNvSpPr/>
          <p:nvPr/>
        </p:nvSpPr>
        <p:spPr>
          <a:xfrm>
            <a:off x="6253502" y="1407319"/>
            <a:ext cx="5283068" cy="894755"/>
          </a:xfrm>
          <a:prstGeom prst="roundRect">
            <a:avLst>
              <a:gd name="adj" fmla="val 5823"/>
            </a:avLst>
          </a:prstGeom>
          <a:solidFill>
            <a:srgbClr val="E6DED2">
              <a:alpha val="50000"/>
            </a:srgbClr>
          </a:solidFill>
          <a:ln w="6350">
            <a:solidFill>
              <a:srgbClr val="CCC4B8"/>
            </a:solidFill>
            <a:prstDash val="solid"/>
          </a:ln>
          <a:effectLst>
            <a:outerShdw blurRad="127" dist="15240" dir="2700000" algn="bl" rotWithShape="0">
              <a:srgbClr val="CCC4B8">
                <a:alpha val="100000"/>
              </a:srgbClr>
            </a:outerShdw>
          </a:effectLst>
        </p:spPr>
      </p:sp>
      <p:sp>
        <p:nvSpPr>
          <p:cNvPr id="18" name="Text 12"/>
          <p:cNvSpPr/>
          <p:nvPr/>
        </p:nvSpPr>
        <p:spPr>
          <a:xfrm>
            <a:off x="6383872" y="1537692"/>
            <a:ext cx="5022327" cy="193774"/>
          </a:xfrm>
          <a:prstGeom prst="rect">
            <a:avLst/>
          </a:prstGeom>
          <a:noFill/>
          <a:ln/>
        </p:spPr>
        <p:txBody>
          <a:bodyPr wrap="none" lIns="0" tIns="0" rIns="0" bIns="0" rtlCol="0" anchor="t"/>
          <a:lstStyle/>
          <a:p>
            <a:pPr marL="0" indent="0" algn="l">
              <a:lnSpc>
                <a:spcPct val="104000"/>
              </a:lnSpc>
              <a:buNone/>
            </a:pPr>
            <a:r>
              <a:rPr lang="en-US" sz="1200" kern="0" spc="-24" dirty="0">
                <a:solidFill>
                  <a:srgbClr val="000000"/>
                </a:solidFill>
                <a:latin typeface="Noto Serif Medium" pitchFamily="34" charset="0"/>
                <a:ea typeface="Noto Serif Medium" pitchFamily="34" charset="-122"/>
                <a:cs typeface="Noto Serif Medium" pitchFamily="34" charset="-120"/>
              </a:rPr>
              <a:t>Automated Monitoring</a:t>
            </a:r>
            <a:endParaRPr lang="en-US" sz="1200" dirty="0"/>
          </a:p>
        </p:txBody>
      </p:sp>
      <p:sp>
        <p:nvSpPr>
          <p:cNvPr id="19" name="Text 13"/>
          <p:cNvSpPr/>
          <p:nvPr/>
        </p:nvSpPr>
        <p:spPr>
          <a:xfrm>
            <a:off x="6383872" y="1824434"/>
            <a:ext cx="5022327" cy="347266"/>
          </a:xfrm>
          <a:prstGeom prst="rect">
            <a:avLst/>
          </a:prstGeom>
          <a:noFill/>
          <a:ln/>
        </p:spPr>
        <p:txBody>
          <a:bodyPr wrap="square" lIns="0" tIns="0" rIns="0" bIns="0" rtlCol="0" anchor="t">
            <a:normAutofit/>
          </a:bodyPr>
          <a:lstStyle/>
          <a:p>
            <a:pPr marL="0" indent="0" algn="l">
              <a:lnSpc>
                <a:spcPct val="117000"/>
              </a:lnSpc>
              <a:buNone/>
            </a:pPr>
            <a:r>
              <a:rPr lang="en-US" sz="950" dirty="0">
                <a:solidFill>
                  <a:srgbClr val="000000"/>
                </a:solidFill>
                <a:latin typeface="Noto Serif" pitchFamily="34" charset="0"/>
                <a:ea typeface="Noto Serif" pitchFamily="34" charset="-122"/>
                <a:cs typeface="Noto Serif" pitchFamily="34" charset="-120"/>
              </a:rPr>
              <a:t>Continuous real-time monitoring without manual intervention, operating 24/7 across all sensors.</a:t>
            </a:r>
            <a:endParaRPr lang="en-US" sz="950" dirty="0"/>
          </a:p>
        </p:txBody>
      </p:sp>
      <p:sp>
        <p:nvSpPr>
          <p:cNvPr id="20" name="Shape 14"/>
          <p:cNvSpPr/>
          <p:nvPr/>
        </p:nvSpPr>
        <p:spPr>
          <a:xfrm>
            <a:off x="6253502" y="2395041"/>
            <a:ext cx="5283068" cy="894755"/>
          </a:xfrm>
          <a:prstGeom prst="roundRect">
            <a:avLst>
              <a:gd name="adj" fmla="val 5823"/>
            </a:avLst>
          </a:prstGeom>
          <a:solidFill>
            <a:srgbClr val="E6DED2">
              <a:alpha val="50000"/>
            </a:srgbClr>
          </a:solidFill>
          <a:ln w="6350">
            <a:solidFill>
              <a:srgbClr val="CCC4B8"/>
            </a:solidFill>
            <a:prstDash val="solid"/>
          </a:ln>
          <a:effectLst>
            <a:outerShdw blurRad="127" dist="15240" dir="2700000" algn="bl" rotWithShape="0">
              <a:srgbClr val="CCC4B8">
                <a:alpha val="100000"/>
              </a:srgbClr>
            </a:outerShdw>
          </a:effectLst>
        </p:spPr>
      </p:sp>
      <p:sp>
        <p:nvSpPr>
          <p:cNvPr id="21" name="Text 15"/>
          <p:cNvSpPr/>
          <p:nvPr/>
        </p:nvSpPr>
        <p:spPr>
          <a:xfrm>
            <a:off x="6383872" y="2525415"/>
            <a:ext cx="5022327" cy="193774"/>
          </a:xfrm>
          <a:prstGeom prst="rect">
            <a:avLst/>
          </a:prstGeom>
          <a:noFill/>
          <a:ln/>
        </p:spPr>
        <p:txBody>
          <a:bodyPr wrap="none" lIns="0" tIns="0" rIns="0" bIns="0" rtlCol="0" anchor="t"/>
          <a:lstStyle/>
          <a:p>
            <a:pPr marL="0" indent="0" algn="l">
              <a:lnSpc>
                <a:spcPct val="104000"/>
              </a:lnSpc>
              <a:buNone/>
            </a:pPr>
            <a:r>
              <a:rPr lang="en-US" sz="1200" kern="0" spc="-24" dirty="0">
                <a:solidFill>
                  <a:srgbClr val="000000"/>
                </a:solidFill>
                <a:latin typeface="Noto Serif Medium" pitchFamily="34" charset="0"/>
                <a:ea typeface="Noto Serif Medium" pitchFamily="34" charset="-122"/>
                <a:cs typeface="Noto Serif Medium" pitchFamily="34" charset="-120"/>
              </a:rPr>
              <a:t>Early Fault Identification</a:t>
            </a:r>
            <a:endParaRPr lang="en-US" sz="1200" dirty="0"/>
          </a:p>
        </p:txBody>
      </p:sp>
      <p:sp>
        <p:nvSpPr>
          <p:cNvPr id="22" name="Text 16"/>
          <p:cNvSpPr/>
          <p:nvPr/>
        </p:nvSpPr>
        <p:spPr>
          <a:xfrm>
            <a:off x="6383872" y="2812157"/>
            <a:ext cx="5022327" cy="347266"/>
          </a:xfrm>
          <a:prstGeom prst="rect">
            <a:avLst/>
          </a:prstGeom>
          <a:noFill/>
          <a:ln/>
        </p:spPr>
        <p:txBody>
          <a:bodyPr wrap="square" lIns="0" tIns="0" rIns="0" bIns="0" rtlCol="0" anchor="t">
            <a:normAutofit/>
          </a:bodyPr>
          <a:lstStyle/>
          <a:p>
            <a:pPr marL="0" indent="0" algn="l">
              <a:lnSpc>
                <a:spcPct val="117000"/>
              </a:lnSpc>
              <a:buNone/>
            </a:pPr>
            <a:r>
              <a:rPr lang="en-US" sz="950" dirty="0">
                <a:solidFill>
                  <a:srgbClr val="000000"/>
                </a:solidFill>
                <a:latin typeface="Noto Serif" pitchFamily="34" charset="0"/>
                <a:ea typeface="Noto Serif" pitchFamily="34" charset="-122"/>
                <a:cs typeface="Noto Serif" pitchFamily="34" charset="-120"/>
              </a:rPr>
              <a:t>Earlier detection of abnormal behavior supports proactive maintenance before failures escalate.</a:t>
            </a:r>
            <a:endParaRPr lang="en-US" sz="950" dirty="0"/>
          </a:p>
        </p:txBody>
      </p:sp>
      <p:sp>
        <p:nvSpPr>
          <p:cNvPr id="23" name="Shape 17"/>
          <p:cNvSpPr/>
          <p:nvPr/>
        </p:nvSpPr>
        <p:spPr>
          <a:xfrm>
            <a:off x="6253502" y="3382764"/>
            <a:ext cx="5283068" cy="894755"/>
          </a:xfrm>
          <a:prstGeom prst="roundRect">
            <a:avLst>
              <a:gd name="adj" fmla="val 5823"/>
            </a:avLst>
          </a:prstGeom>
          <a:solidFill>
            <a:srgbClr val="E6DED2">
              <a:alpha val="50000"/>
            </a:srgbClr>
          </a:solidFill>
          <a:ln w="6350">
            <a:solidFill>
              <a:srgbClr val="CCC4B8"/>
            </a:solidFill>
            <a:prstDash val="solid"/>
          </a:ln>
          <a:effectLst>
            <a:outerShdw blurRad="127" dist="15240" dir="2700000" algn="bl" rotWithShape="0">
              <a:srgbClr val="CCC4B8">
                <a:alpha val="100000"/>
              </a:srgbClr>
            </a:outerShdw>
          </a:effectLst>
        </p:spPr>
      </p:sp>
      <p:sp>
        <p:nvSpPr>
          <p:cNvPr id="24" name="Text 18"/>
          <p:cNvSpPr/>
          <p:nvPr/>
        </p:nvSpPr>
        <p:spPr>
          <a:xfrm>
            <a:off x="6383872" y="3513138"/>
            <a:ext cx="5022327" cy="193774"/>
          </a:xfrm>
          <a:prstGeom prst="rect">
            <a:avLst/>
          </a:prstGeom>
          <a:noFill/>
          <a:ln/>
        </p:spPr>
        <p:txBody>
          <a:bodyPr wrap="none" lIns="0" tIns="0" rIns="0" bIns="0" rtlCol="0" anchor="t"/>
          <a:lstStyle/>
          <a:p>
            <a:pPr marL="0" indent="0" algn="l">
              <a:lnSpc>
                <a:spcPct val="104000"/>
              </a:lnSpc>
              <a:buNone/>
            </a:pPr>
            <a:r>
              <a:rPr lang="en-US" sz="1200" kern="0" spc="-24" dirty="0">
                <a:solidFill>
                  <a:srgbClr val="000000"/>
                </a:solidFill>
                <a:latin typeface="Noto Serif Medium" pitchFamily="34" charset="0"/>
                <a:ea typeface="Noto Serif Medium" pitchFamily="34" charset="-122"/>
                <a:cs typeface="Noto Serif Medium" pitchFamily="34" charset="-120"/>
              </a:rPr>
              <a:t>Operational Reliability</a:t>
            </a:r>
            <a:endParaRPr lang="en-US" sz="1200" dirty="0"/>
          </a:p>
        </p:txBody>
      </p:sp>
      <p:sp>
        <p:nvSpPr>
          <p:cNvPr id="25" name="Text 19"/>
          <p:cNvSpPr/>
          <p:nvPr/>
        </p:nvSpPr>
        <p:spPr>
          <a:xfrm>
            <a:off x="6383872" y="3799880"/>
            <a:ext cx="5022327" cy="347266"/>
          </a:xfrm>
          <a:prstGeom prst="rect">
            <a:avLst/>
          </a:prstGeom>
          <a:noFill/>
          <a:ln/>
        </p:spPr>
        <p:txBody>
          <a:bodyPr wrap="square" lIns="0" tIns="0" rIns="0" bIns="0" rtlCol="0" anchor="t">
            <a:normAutofit/>
          </a:bodyPr>
          <a:lstStyle/>
          <a:p>
            <a:pPr marL="0" indent="0" algn="l">
              <a:lnSpc>
                <a:spcPct val="117000"/>
              </a:lnSpc>
              <a:buNone/>
            </a:pPr>
            <a:r>
              <a:rPr lang="en-US" sz="950" dirty="0">
                <a:solidFill>
                  <a:srgbClr val="000000"/>
                </a:solidFill>
                <a:latin typeface="Noto Serif" pitchFamily="34" charset="0"/>
                <a:ea typeface="Noto Serif" pitchFamily="34" charset="-122"/>
                <a:cs typeface="Noto Serif" pitchFamily="34" charset="-120"/>
              </a:rPr>
              <a:t>Improved sensor network visibility and data-driven monitoring decisions enhance overall system reliability.</a:t>
            </a:r>
            <a:endParaRPr lang="en-US" sz="950" dirty="0"/>
          </a:p>
        </p:txBody>
      </p:sp>
      <p:sp>
        <p:nvSpPr>
          <p:cNvPr id="26" name="Shape 20"/>
          <p:cNvSpPr/>
          <p:nvPr/>
        </p:nvSpPr>
        <p:spPr>
          <a:xfrm>
            <a:off x="6253502" y="4382095"/>
            <a:ext cx="5283068" cy="894755"/>
          </a:xfrm>
          <a:prstGeom prst="roundRect">
            <a:avLst>
              <a:gd name="adj" fmla="val 5823"/>
            </a:avLst>
          </a:prstGeom>
          <a:solidFill>
            <a:srgbClr val="E6DED2">
              <a:alpha val="50000"/>
            </a:srgbClr>
          </a:solidFill>
          <a:ln w="6350">
            <a:solidFill>
              <a:srgbClr val="CCC4B8"/>
            </a:solidFill>
            <a:prstDash val="solid"/>
          </a:ln>
          <a:effectLst>
            <a:outerShdw blurRad="127" dist="15240" dir="2700000" algn="bl" rotWithShape="0">
              <a:srgbClr val="CCC4B8">
                <a:alpha val="100000"/>
              </a:srgbClr>
            </a:outerShdw>
          </a:effectLst>
        </p:spPr>
      </p:sp>
      <p:sp>
        <p:nvSpPr>
          <p:cNvPr id="27" name="Text 21"/>
          <p:cNvSpPr/>
          <p:nvPr/>
        </p:nvSpPr>
        <p:spPr>
          <a:xfrm>
            <a:off x="6383872" y="4512469"/>
            <a:ext cx="5022327" cy="193774"/>
          </a:xfrm>
          <a:prstGeom prst="rect">
            <a:avLst/>
          </a:prstGeom>
          <a:noFill/>
          <a:ln/>
        </p:spPr>
        <p:txBody>
          <a:bodyPr wrap="none" lIns="0" tIns="0" rIns="0" bIns="0" rtlCol="0" anchor="t"/>
          <a:lstStyle/>
          <a:p>
            <a:pPr marL="0" indent="0" algn="l">
              <a:lnSpc>
                <a:spcPct val="104000"/>
              </a:lnSpc>
              <a:buNone/>
            </a:pPr>
            <a:r>
              <a:rPr lang="en-US" sz="1200" kern="0" spc="-24" dirty="0">
                <a:solidFill>
                  <a:srgbClr val="000000"/>
                </a:solidFill>
                <a:latin typeface="Noto Serif Medium" pitchFamily="34" charset="0"/>
                <a:ea typeface="Noto Serif Medium" pitchFamily="34" charset="-122"/>
                <a:cs typeface="Noto Serif Medium" pitchFamily="34" charset="-120"/>
              </a:rPr>
              <a:t>Data-Driven Decisions</a:t>
            </a:r>
            <a:endParaRPr lang="en-US" sz="1200" dirty="0"/>
          </a:p>
        </p:txBody>
      </p:sp>
      <p:sp>
        <p:nvSpPr>
          <p:cNvPr id="28" name="Text 22"/>
          <p:cNvSpPr/>
          <p:nvPr/>
        </p:nvSpPr>
        <p:spPr>
          <a:xfrm>
            <a:off x="6383872" y="4799211"/>
            <a:ext cx="5022327" cy="347266"/>
          </a:xfrm>
          <a:prstGeom prst="rect">
            <a:avLst/>
          </a:prstGeom>
          <a:noFill/>
          <a:ln/>
        </p:spPr>
        <p:txBody>
          <a:bodyPr wrap="square" lIns="0" tIns="0" rIns="0" bIns="0" rtlCol="0" anchor="t">
            <a:normAutofit/>
          </a:bodyPr>
          <a:lstStyle/>
          <a:p>
            <a:pPr marL="0" indent="0" algn="l">
              <a:lnSpc>
                <a:spcPct val="117000"/>
              </a:lnSpc>
              <a:buNone/>
            </a:pPr>
            <a:r>
              <a:rPr lang="en-US" sz="950" dirty="0">
                <a:solidFill>
                  <a:srgbClr val="000000"/>
                </a:solidFill>
                <a:latin typeface="Noto Serif" pitchFamily="34" charset="0"/>
                <a:ea typeface="Noto Serif" pitchFamily="34" charset="-122"/>
                <a:cs typeface="Noto Serif" pitchFamily="34" charset="-120"/>
              </a:rPr>
              <a:t>Anomaly scores and historical trends provide an evidence base for maintenance planning and operational decisions.</a:t>
            </a:r>
            <a:endParaRPr lang="en-US" sz="950" dirty="0"/>
          </a:p>
        </p:txBody>
      </p:sp>
      <p:sp>
        <p:nvSpPr>
          <p:cNvPr id="29" name="Shape 23"/>
          <p:cNvSpPr/>
          <p:nvPr/>
        </p:nvSpPr>
        <p:spPr>
          <a:xfrm>
            <a:off x="6253502" y="5369818"/>
            <a:ext cx="5283068" cy="894755"/>
          </a:xfrm>
          <a:prstGeom prst="roundRect">
            <a:avLst>
              <a:gd name="adj" fmla="val 5823"/>
            </a:avLst>
          </a:prstGeom>
          <a:solidFill>
            <a:srgbClr val="E6DED2">
              <a:alpha val="50000"/>
            </a:srgbClr>
          </a:solidFill>
          <a:ln w="6350">
            <a:solidFill>
              <a:srgbClr val="CCC4B8"/>
            </a:solidFill>
            <a:prstDash val="solid"/>
          </a:ln>
          <a:effectLst>
            <a:outerShdw blurRad="127" dist="15240" dir="2700000" algn="bl" rotWithShape="0">
              <a:srgbClr val="CCC4B8">
                <a:alpha val="100000"/>
              </a:srgbClr>
            </a:outerShdw>
          </a:effectLst>
        </p:spPr>
      </p:sp>
      <p:sp>
        <p:nvSpPr>
          <p:cNvPr id="30" name="Text 24"/>
          <p:cNvSpPr/>
          <p:nvPr/>
        </p:nvSpPr>
        <p:spPr>
          <a:xfrm>
            <a:off x="6383872" y="5500191"/>
            <a:ext cx="5022327" cy="193774"/>
          </a:xfrm>
          <a:prstGeom prst="rect">
            <a:avLst/>
          </a:prstGeom>
          <a:noFill/>
          <a:ln/>
        </p:spPr>
        <p:txBody>
          <a:bodyPr wrap="none" lIns="0" tIns="0" rIns="0" bIns="0" rtlCol="0" anchor="t"/>
          <a:lstStyle/>
          <a:p>
            <a:pPr marL="0" indent="0" algn="l">
              <a:lnSpc>
                <a:spcPct val="104000"/>
              </a:lnSpc>
              <a:buNone/>
            </a:pPr>
            <a:r>
              <a:rPr lang="en-US" sz="1200" kern="0" spc="-24" dirty="0">
                <a:solidFill>
                  <a:srgbClr val="000000"/>
                </a:solidFill>
                <a:latin typeface="Noto Serif Medium" pitchFamily="34" charset="0"/>
                <a:ea typeface="Noto Serif Medium" pitchFamily="34" charset="-122"/>
                <a:cs typeface="Noto Serif Medium" pitchFamily="34" charset="-120"/>
              </a:rPr>
              <a:t>Scalable Architecture</a:t>
            </a:r>
            <a:endParaRPr lang="en-US" sz="1200" dirty="0"/>
          </a:p>
        </p:txBody>
      </p:sp>
      <p:sp>
        <p:nvSpPr>
          <p:cNvPr id="31" name="Text 25"/>
          <p:cNvSpPr/>
          <p:nvPr/>
        </p:nvSpPr>
        <p:spPr>
          <a:xfrm>
            <a:off x="6383872" y="5786934"/>
            <a:ext cx="5022327" cy="347266"/>
          </a:xfrm>
          <a:prstGeom prst="rect">
            <a:avLst/>
          </a:prstGeom>
          <a:noFill/>
          <a:ln/>
        </p:spPr>
        <p:txBody>
          <a:bodyPr wrap="square" lIns="0" tIns="0" rIns="0" bIns="0" rtlCol="0" anchor="t">
            <a:normAutofit/>
          </a:bodyPr>
          <a:lstStyle/>
          <a:p>
            <a:pPr marL="0" indent="0" algn="l">
              <a:lnSpc>
                <a:spcPct val="117000"/>
              </a:lnSpc>
              <a:buNone/>
            </a:pPr>
            <a:r>
              <a:rPr lang="en-US" sz="950" dirty="0">
                <a:solidFill>
                  <a:srgbClr val="000000"/>
                </a:solidFill>
                <a:latin typeface="Noto Serif" pitchFamily="34" charset="0"/>
                <a:ea typeface="Noto Serif" pitchFamily="34" charset="-122"/>
                <a:cs typeface="Noto Serif" pitchFamily="34" charset="-120"/>
              </a:rPr>
              <a:t>Designed to support multiple sensors and application domains, scaling with the growth of the IoT deployment.</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476945"/>
            <a:ext cx="10868745" cy="436066"/>
          </a:xfrm>
          <a:prstGeom prst="rect">
            <a:avLst/>
          </a:prstGeom>
          <a:noFill/>
          <a:ln/>
        </p:spPr>
        <p:txBody>
          <a:bodyPr wrap="none" lIns="0" tIns="0" rIns="0" bIns="0" rtlCol="0" anchor="t"/>
          <a:lstStyle/>
          <a:p>
            <a:pPr marL="0" indent="0" algn="l">
              <a:lnSpc>
                <a:spcPct val="104000"/>
              </a:lnSpc>
              <a:buNone/>
            </a:pPr>
            <a:r>
              <a:rPr lang="en-US" sz="2700" kern="0" spc="-55" dirty="0">
                <a:solidFill>
                  <a:srgbClr val="3A3A3A"/>
                </a:solidFill>
                <a:latin typeface="Noto Serif Medium" pitchFamily="34" charset="0"/>
                <a:ea typeface="Noto Serif Medium" pitchFamily="34" charset="-122"/>
                <a:cs typeface="Noto Serif Medium" pitchFamily="34" charset="-120"/>
              </a:rPr>
              <a:t>Conclusion and Expected Outcomes</a:t>
            </a:r>
            <a:endParaRPr lang="en-US" sz="2700" dirty="0"/>
          </a:p>
        </p:txBody>
      </p:sp>
      <p:sp>
        <p:nvSpPr>
          <p:cNvPr id="3" name="Text 1"/>
          <p:cNvSpPr/>
          <p:nvPr/>
        </p:nvSpPr>
        <p:spPr>
          <a:xfrm>
            <a:off x="661475" y="1148457"/>
            <a:ext cx="10868745" cy="411758"/>
          </a:xfrm>
          <a:prstGeom prst="rect">
            <a:avLst/>
          </a:prstGeom>
          <a:noFill/>
          <a:ln/>
        </p:spPr>
        <p:txBody>
          <a:bodyPr wrap="square" lIns="0" tIns="0" rIns="0" bIns="0" rtlCol="0" anchor="t">
            <a:normAutofit/>
          </a:bodyPr>
          <a:lstStyle/>
          <a:p>
            <a:pPr marL="0" indent="0" algn="l">
              <a:lnSpc>
                <a:spcPct val="123000"/>
              </a:lnSpc>
              <a:buNone/>
            </a:pPr>
            <a:r>
              <a:rPr lang="en-US" sz="1050" dirty="0">
                <a:solidFill>
                  <a:srgbClr val="4C4C4C"/>
                </a:solidFill>
                <a:latin typeface="Noto Serif" pitchFamily="34" charset="0"/>
                <a:ea typeface="Noto Serif" pitchFamily="34" charset="-122"/>
                <a:cs typeface="Noto Serif" pitchFamily="34" charset="-120"/>
              </a:rPr>
              <a:t>The Anomaly Detection System for IoT Sensor Networks provides an intelligent, automated approach to monitoring large volumes of real-time sensor data through Python-based preprocessing, machine learning anomaly detection, and real-time analytics.</a:t>
            </a:r>
            <a:endParaRPr lang="en-US" sz="1050" dirty="0"/>
          </a:p>
        </p:txBody>
      </p:sp>
      <p:sp>
        <p:nvSpPr>
          <p:cNvPr id="4" name="Shape 2"/>
          <p:cNvSpPr/>
          <p:nvPr/>
        </p:nvSpPr>
        <p:spPr>
          <a:xfrm>
            <a:off x="561068" y="1692672"/>
            <a:ext cx="5465030" cy="4688284"/>
          </a:xfrm>
          <a:prstGeom prst="roundRect">
            <a:avLst>
              <a:gd name="adj" fmla="val 2143"/>
            </a:avLst>
          </a:prstGeom>
          <a:solidFill>
            <a:srgbClr val="9C9283"/>
          </a:solidFill>
          <a:ln/>
        </p:spPr>
      </p:sp>
      <p:sp>
        <p:nvSpPr>
          <p:cNvPr id="5" name="Text 3"/>
          <p:cNvSpPr/>
          <p:nvPr/>
        </p:nvSpPr>
        <p:spPr>
          <a:xfrm>
            <a:off x="700566" y="1810345"/>
            <a:ext cx="5186034" cy="217984"/>
          </a:xfrm>
          <a:prstGeom prst="rect">
            <a:avLst/>
          </a:prstGeom>
          <a:noFill/>
          <a:ln/>
        </p:spPr>
        <p:txBody>
          <a:bodyPr wrap="none" lIns="0" tIns="0" rIns="0" bIns="0" rtlCol="0" anchor="t"/>
          <a:lstStyle/>
          <a:p>
            <a:pPr marL="0" indent="0" algn="l">
              <a:lnSpc>
                <a:spcPct val="104000"/>
              </a:lnSpc>
              <a:buNone/>
            </a:pPr>
            <a:r>
              <a:rPr lang="en-US" sz="1350" kern="0" spc="-27" dirty="0">
                <a:solidFill>
                  <a:srgbClr val="000000"/>
                </a:solidFill>
                <a:latin typeface="Noto Serif Medium" pitchFamily="34" charset="0"/>
                <a:ea typeface="Noto Serif Medium" pitchFamily="34" charset="-122"/>
                <a:cs typeface="Noto Serif Medium" pitchFamily="34" charset="-120"/>
              </a:rPr>
              <a:t>Expected Outcomes</a:t>
            </a:r>
            <a:endParaRPr lang="en-US" sz="1350" dirty="0"/>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52853" y="2167731"/>
            <a:ext cx="209247" cy="209252"/>
          </a:xfrm>
          <a:prstGeom prst="rect">
            <a:avLst/>
          </a:prstGeom>
        </p:spPr>
      </p:pic>
      <p:sp>
        <p:nvSpPr>
          <p:cNvPr id="7" name="Text 4"/>
          <p:cNvSpPr/>
          <p:nvPr/>
        </p:nvSpPr>
        <p:spPr>
          <a:xfrm>
            <a:off x="1153984" y="2160786"/>
            <a:ext cx="4732616" cy="205879"/>
          </a:xfrm>
          <a:prstGeom prst="rect">
            <a:avLst/>
          </a:prstGeom>
          <a:noFill/>
          <a:ln/>
        </p:spPr>
        <p:txBody>
          <a:bodyPr wrap="none" lIns="0" tIns="0" rIns="0" bIns="0" rtlCol="0" anchor="t"/>
          <a:lstStyle/>
          <a:p>
            <a:pPr marL="0" indent="0" algn="l">
              <a:lnSpc>
                <a:spcPct val="123000"/>
              </a:lnSpc>
              <a:buNone/>
            </a:pPr>
            <a:r>
              <a:rPr lang="en-US" sz="1050" dirty="0">
                <a:solidFill>
                  <a:srgbClr val="000000"/>
                </a:solidFill>
                <a:latin typeface="Noto Serif" pitchFamily="34" charset="0"/>
                <a:ea typeface="Noto Serif" pitchFamily="34" charset="-122"/>
                <a:cs typeface="Noto Serif" pitchFamily="34" charset="-120"/>
              </a:rPr>
              <a:t>Faster identification of abnormal sensor behavior and potential faults</a:t>
            </a:r>
            <a:endParaRPr lang="en-US" sz="1050" dirty="0"/>
          </a:p>
        </p:txBody>
      </p:sp>
      <p:pic>
        <p:nvPicPr>
          <p:cNvPr id="8"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52853" y="2828727"/>
            <a:ext cx="209247" cy="209252"/>
          </a:xfrm>
          <a:prstGeom prst="rect">
            <a:avLst/>
          </a:prstGeom>
        </p:spPr>
      </p:pic>
      <p:sp>
        <p:nvSpPr>
          <p:cNvPr id="9" name="Text 5"/>
          <p:cNvSpPr/>
          <p:nvPr/>
        </p:nvSpPr>
        <p:spPr>
          <a:xfrm>
            <a:off x="1153984" y="2821781"/>
            <a:ext cx="4732616" cy="205879"/>
          </a:xfrm>
          <a:prstGeom prst="rect">
            <a:avLst/>
          </a:prstGeom>
          <a:noFill/>
          <a:ln/>
        </p:spPr>
        <p:txBody>
          <a:bodyPr wrap="none" lIns="0" tIns="0" rIns="0" bIns="0" rtlCol="0" anchor="t"/>
          <a:lstStyle/>
          <a:p>
            <a:pPr marL="0" indent="0" algn="l">
              <a:lnSpc>
                <a:spcPct val="123000"/>
              </a:lnSpc>
              <a:buNone/>
            </a:pPr>
            <a:r>
              <a:rPr lang="en-US" sz="1050" dirty="0">
                <a:solidFill>
                  <a:srgbClr val="000000"/>
                </a:solidFill>
                <a:latin typeface="Noto Serif" pitchFamily="34" charset="0"/>
                <a:ea typeface="Noto Serif" pitchFamily="34" charset="-122"/>
                <a:cs typeface="Noto Serif" pitchFamily="34" charset="-120"/>
              </a:rPr>
              <a:t>Improved sensor network visibility and operational reliability</a:t>
            </a:r>
            <a:endParaRPr lang="en-US" sz="1050" dirty="0"/>
          </a:p>
        </p:txBody>
      </p:sp>
      <p:pic>
        <p:nvPicPr>
          <p:cNvPr id="10"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52853" y="3489722"/>
            <a:ext cx="209247" cy="209252"/>
          </a:xfrm>
          <a:prstGeom prst="rect">
            <a:avLst/>
          </a:prstGeom>
        </p:spPr>
      </p:pic>
      <p:sp>
        <p:nvSpPr>
          <p:cNvPr id="11" name="Text 6"/>
          <p:cNvSpPr/>
          <p:nvPr/>
        </p:nvSpPr>
        <p:spPr>
          <a:xfrm>
            <a:off x="1153984" y="3482777"/>
            <a:ext cx="4732616" cy="205879"/>
          </a:xfrm>
          <a:prstGeom prst="rect">
            <a:avLst/>
          </a:prstGeom>
          <a:noFill/>
          <a:ln/>
        </p:spPr>
        <p:txBody>
          <a:bodyPr wrap="none" lIns="0" tIns="0" rIns="0" bIns="0" rtlCol="0" anchor="t"/>
          <a:lstStyle/>
          <a:p>
            <a:pPr marL="0" indent="0" algn="l">
              <a:lnSpc>
                <a:spcPct val="123000"/>
              </a:lnSpc>
              <a:buNone/>
            </a:pPr>
            <a:r>
              <a:rPr lang="en-US" sz="1050" dirty="0">
                <a:solidFill>
                  <a:srgbClr val="000000"/>
                </a:solidFill>
                <a:latin typeface="Noto Serif" pitchFamily="34" charset="0"/>
                <a:ea typeface="Noto Serif" pitchFamily="34" charset="-122"/>
                <a:cs typeface="Noto Serif" pitchFamily="34" charset="-120"/>
              </a:rPr>
              <a:t>Reduced dependence on manual monitoring processes</a:t>
            </a:r>
            <a:endParaRPr lang="en-US" sz="1050" dirty="0"/>
          </a:p>
        </p:txBody>
      </p:sp>
      <p:pic>
        <p:nvPicPr>
          <p:cNvPr id="12" name="Image 3"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52853" y="4150717"/>
            <a:ext cx="209247" cy="209252"/>
          </a:xfrm>
          <a:prstGeom prst="rect">
            <a:avLst/>
          </a:prstGeom>
        </p:spPr>
      </p:pic>
      <p:sp>
        <p:nvSpPr>
          <p:cNvPr id="13" name="Text 7"/>
          <p:cNvSpPr/>
          <p:nvPr/>
        </p:nvSpPr>
        <p:spPr>
          <a:xfrm>
            <a:off x="1153984" y="4143772"/>
            <a:ext cx="4732616" cy="205879"/>
          </a:xfrm>
          <a:prstGeom prst="rect">
            <a:avLst/>
          </a:prstGeom>
          <a:noFill/>
          <a:ln/>
        </p:spPr>
        <p:txBody>
          <a:bodyPr wrap="none" lIns="0" tIns="0" rIns="0" bIns="0" rtlCol="0" anchor="t"/>
          <a:lstStyle/>
          <a:p>
            <a:pPr marL="0" indent="0" algn="l">
              <a:lnSpc>
                <a:spcPct val="123000"/>
              </a:lnSpc>
              <a:buNone/>
            </a:pPr>
            <a:r>
              <a:rPr lang="en-US" sz="1050" dirty="0">
                <a:solidFill>
                  <a:srgbClr val="000000"/>
                </a:solidFill>
                <a:latin typeface="Noto Serif" pitchFamily="34" charset="0"/>
                <a:ea typeface="Noto Serif" pitchFamily="34" charset="-122"/>
                <a:cs typeface="Noto Serif" pitchFamily="34" charset="-120"/>
              </a:rPr>
              <a:t>Better historical trend analysis and maintenance planning</a:t>
            </a:r>
            <a:endParaRPr lang="en-US" sz="1050" dirty="0"/>
          </a:p>
        </p:txBody>
      </p:sp>
      <p:pic>
        <p:nvPicPr>
          <p:cNvPr id="14" name="Image 4"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52853" y="4811713"/>
            <a:ext cx="209247" cy="209252"/>
          </a:xfrm>
          <a:prstGeom prst="rect">
            <a:avLst/>
          </a:prstGeom>
        </p:spPr>
      </p:pic>
      <p:sp>
        <p:nvSpPr>
          <p:cNvPr id="15" name="Text 8"/>
          <p:cNvSpPr/>
          <p:nvPr/>
        </p:nvSpPr>
        <p:spPr>
          <a:xfrm>
            <a:off x="1153984" y="4804767"/>
            <a:ext cx="4732616" cy="205879"/>
          </a:xfrm>
          <a:prstGeom prst="rect">
            <a:avLst/>
          </a:prstGeom>
          <a:noFill/>
          <a:ln/>
        </p:spPr>
        <p:txBody>
          <a:bodyPr wrap="none" lIns="0" tIns="0" rIns="0" bIns="0" rtlCol="0" anchor="t"/>
          <a:lstStyle/>
          <a:p>
            <a:pPr marL="0" indent="0" algn="l">
              <a:lnSpc>
                <a:spcPct val="123000"/>
              </a:lnSpc>
              <a:buNone/>
            </a:pPr>
            <a:r>
              <a:rPr lang="en-US" sz="1050" dirty="0">
                <a:solidFill>
                  <a:srgbClr val="000000"/>
                </a:solidFill>
                <a:latin typeface="Noto Serif" pitchFamily="34" charset="0"/>
                <a:ea typeface="Noto Serif" pitchFamily="34" charset="-122"/>
                <a:cs typeface="Noto Serif" pitchFamily="34" charset="-120"/>
              </a:rPr>
              <a:t>Data-driven IoT monitoring and operational decisions</a:t>
            </a:r>
            <a:endParaRPr lang="en-US" sz="1050" dirty="0"/>
          </a:p>
        </p:txBody>
      </p:sp>
      <p:sp>
        <p:nvSpPr>
          <p:cNvPr id="16" name="Text 9"/>
          <p:cNvSpPr/>
          <p:nvPr/>
        </p:nvSpPr>
        <p:spPr>
          <a:xfrm>
            <a:off x="6272353" y="1810345"/>
            <a:ext cx="5264217" cy="217984"/>
          </a:xfrm>
          <a:prstGeom prst="rect">
            <a:avLst/>
          </a:prstGeom>
          <a:noFill/>
          <a:ln/>
        </p:spPr>
        <p:txBody>
          <a:bodyPr wrap="none" lIns="0" tIns="0" rIns="0" bIns="0" rtlCol="0" anchor="t"/>
          <a:lstStyle/>
          <a:p>
            <a:pPr marL="0" indent="0" algn="l">
              <a:lnSpc>
                <a:spcPct val="104000"/>
              </a:lnSpc>
              <a:buNone/>
            </a:pPr>
            <a:r>
              <a:rPr lang="en-US" sz="1350" kern="0" spc="-27" dirty="0">
                <a:solidFill>
                  <a:srgbClr val="3A3A3A"/>
                </a:solidFill>
                <a:latin typeface="Noto Serif Medium" pitchFamily="34" charset="0"/>
                <a:ea typeface="Noto Serif Medium" pitchFamily="34" charset="-122"/>
                <a:cs typeface="Noto Serif Medium" pitchFamily="34" charset="-120"/>
              </a:rPr>
              <a:t>Target Application Domains</a:t>
            </a:r>
            <a:endParaRPr lang="en-US" sz="1350" dirty="0"/>
          </a:p>
        </p:txBody>
      </p:sp>
      <p:sp>
        <p:nvSpPr>
          <p:cNvPr id="17" name="Shape 10"/>
          <p:cNvSpPr/>
          <p:nvPr/>
        </p:nvSpPr>
        <p:spPr>
          <a:xfrm>
            <a:off x="6272353" y="2160786"/>
            <a:ext cx="2573273" cy="509687"/>
          </a:xfrm>
          <a:prstGeom prst="roundRect">
            <a:avLst>
              <a:gd name="adj" fmla="val 11499"/>
            </a:avLst>
          </a:prstGeom>
          <a:solidFill>
            <a:srgbClr val="E6DED2">
              <a:alpha val="50000"/>
            </a:srgbClr>
          </a:solidFill>
          <a:ln w="6350">
            <a:solidFill>
              <a:srgbClr val="CCC4B8"/>
            </a:solidFill>
            <a:prstDash val="solid"/>
          </a:ln>
          <a:effectLst>
            <a:outerShdw blurRad="127" dist="17780" dir="2700000" algn="bl" rotWithShape="0">
              <a:srgbClr val="CCC4B8">
                <a:alpha val="100000"/>
              </a:srgbClr>
            </a:outerShdw>
          </a:effectLst>
        </p:spPr>
      </p:sp>
      <p:sp>
        <p:nvSpPr>
          <p:cNvPr id="18" name="Text 11"/>
          <p:cNvSpPr/>
          <p:nvPr/>
        </p:nvSpPr>
        <p:spPr>
          <a:xfrm>
            <a:off x="6418201" y="2306638"/>
            <a:ext cx="2281577" cy="217984"/>
          </a:xfrm>
          <a:prstGeom prst="rect">
            <a:avLst/>
          </a:prstGeom>
          <a:noFill/>
          <a:ln/>
        </p:spPr>
        <p:txBody>
          <a:bodyPr wrap="none" lIns="0" tIns="0" rIns="0" bIns="0" rtlCol="0" anchor="t"/>
          <a:lstStyle/>
          <a:p>
            <a:pPr marL="0" indent="0" algn="l">
              <a:lnSpc>
                <a:spcPct val="104000"/>
              </a:lnSpc>
              <a:buNone/>
            </a:pPr>
            <a:r>
              <a:rPr lang="en-US" sz="1350" kern="0" spc="-27" dirty="0">
                <a:solidFill>
                  <a:srgbClr val="000000"/>
                </a:solidFill>
                <a:latin typeface="Noto Serif Medium" pitchFamily="34" charset="0"/>
                <a:ea typeface="Noto Serif Medium" pitchFamily="34" charset="-122"/>
                <a:cs typeface="Noto Serif Medium" pitchFamily="34" charset="-120"/>
              </a:rPr>
              <a:t>Smart Homes</a:t>
            </a:r>
            <a:endParaRPr lang="en-US" sz="1350" dirty="0"/>
          </a:p>
        </p:txBody>
      </p:sp>
      <p:sp>
        <p:nvSpPr>
          <p:cNvPr id="19" name="Shape 12"/>
          <p:cNvSpPr/>
          <p:nvPr/>
        </p:nvSpPr>
        <p:spPr>
          <a:xfrm>
            <a:off x="8963297" y="2160786"/>
            <a:ext cx="2573273" cy="509687"/>
          </a:xfrm>
          <a:prstGeom prst="roundRect">
            <a:avLst>
              <a:gd name="adj" fmla="val 11499"/>
            </a:avLst>
          </a:prstGeom>
          <a:solidFill>
            <a:srgbClr val="E6DED2">
              <a:alpha val="50000"/>
            </a:srgbClr>
          </a:solidFill>
          <a:ln w="6350">
            <a:solidFill>
              <a:srgbClr val="CCC4B8"/>
            </a:solidFill>
            <a:prstDash val="solid"/>
          </a:ln>
          <a:effectLst>
            <a:outerShdw blurRad="127" dist="17780" dir="2700000" algn="bl" rotWithShape="0">
              <a:srgbClr val="CCC4B8">
                <a:alpha val="100000"/>
              </a:srgbClr>
            </a:outerShdw>
          </a:effectLst>
        </p:spPr>
      </p:sp>
      <p:sp>
        <p:nvSpPr>
          <p:cNvPr id="20" name="Text 13"/>
          <p:cNvSpPr/>
          <p:nvPr/>
        </p:nvSpPr>
        <p:spPr>
          <a:xfrm>
            <a:off x="9109145" y="2306638"/>
            <a:ext cx="2281577" cy="217984"/>
          </a:xfrm>
          <a:prstGeom prst="rect">
            <a:avLst/>
          </a:prstGeom>
          <a:noFill/>
          <a:ln/>
        </p:spPr>
        <p:txBody>
          <a:bodyPr wrap="none" lIns="0" tIns="0" rIns="0" bIns="0" rtlCol="0" anchor="t"/>
          <a:lstStyle/>
          <a:p>
            <a:pPr marL="0" indent="0" algn="l">
              <a:lnSpc>
                <a:spcPct val="104000"/>
              </a:lnSpc>
              <a:buNone/>
            </a:pPr>
            <a:r>
              <a:rPr lang="en-US" sz="1350" kern="0" spc="-27" dirty="0">
                <a:solidFill>
                  <a:srgbClr val="000000"/>
                </a:solidFill>
                <a:latin typeface="Noto Serif Medium" pitchFamily="34" charset="0"/>
                <a:ea typeface="Noto Serif Medium" pitchFamily="34" charset="-122"/>
                <a:cs typeface="Noto Serif Medium" pitchFamily="34" charset="-120"/>
              </a:rPr>
              <a:t>Industrial IoT</a:t>
            </a:r>
            <a:endParaRPr lang="en-US" sz="1350" dirty="0"/>
          </a:p>
        </p:txBody>
      </p:sp>
      <p:sp>
        <p:nvSpPr>
          <p:cNvPr id="21" name="Shape 14"/>
          <p:cNvSpPr/>
          <p:nvPr/>
        </p:nvSpPr>
        <p:spPr>
          <a:xfrm>
            <a:off x="6272353" y="2788146"/>
            <a:ext cx="2573273" cy="509687"/>
          </a:xfrm>
          <a:prstGeom prst="roundRect">
            <a:avLst>
              <a:gd name="adj" fmla="val 11499"/>
            </a:avLst>
          </a:prstGeom>
          <a:solidFill>
            <a:srgbClr val="E6DED2">
              <a:alpha val="50000"/>
            </a:srgbClr>
          </a:solidFill>
          <a:ln w="6350">
            <a:solidFill>
              <a:srgbClr val="CCC4B8"/>
            </a:solidFill>
            <a:prstDash val="solid"/>
          </a:ln>
          <a:effectLst>
            <a:outerShdw blurRad="127" dist="17780" dir="2700000" algn="bl" rotWithShape="0">
              <a:srgbClr val="CCC4B8">
                <a:alpha val="100000"/>
              </a:srgbClr>
            </a:outerShdw>
          </a:effectLst>
        </p:spPr>
      </p:sp>
      <p:sp>
        <p:nvSpPr>
          <p:cNvPr id="22" name="Text 15"/>
          <p:cNvSpPr/>
          <p:nvPr/>
        </p:nvSpPr>
        <p:spPr>
          <a:xfrm>
            <a:off x="6418201" y="2933998"/>
            <a:ext cx="2281577" cy="217984"/>
          </a:xfrm>
          <a:prstGeom prst="rect">
            <a:avLst/>
          </a:prstGeom>
          <a:noFill/>
          <a:ln/>
        </p:spPr>
        <p:txBody>
          <a:bodyPr wrap="none" lIns="0" tIns="0" rIns="0" bIns="0" rtlCol="0" anchor="t"/>
          <a:lstStyle/>
          <a:p>
            <a:pPr marL="0" indent="0" algn="l">
              <a:lnSpc>
                <a:spcPct val="104000"/>
              </a:lnSpc>
              <a:buNone/>
            </a:pPr>
            <a:r>
              <a:rPr lang="en-US" sz="1350" kern="0" spc="-27" dirty="0">
                <a:solidFill>
                  <a:srgbClr val="000000"/>
                </a:solidFill>
                <a:latin typeface="Noto Serif Medium" pitchFamily="34" charset="0"/>
                <a:ea typeface="Noto Serif Medium" pitchFamily="34" charset="-122"/>
                <a:cs typeface="Noto Serif Medium" pitchFamily="34" charset="-120"/>
              </a:rPr>
              <a:t>Healthcare</a:t>
            </a:r>
            <a:endParaRPr lang="en-US" sz="1350" dirty="0"/>
          </a:p>
        </p:txBody>
      </p:sp>
      <p:sp>
        <p:nvSpPr>
          <p:cNvPr id="23" name="Shape 16"/>
          <p:cNvSpPr/>
          <p:nvPr/>
        </p:nvSpPr>
        <p:spPr>
          <a:xfrm>
            <a:off x="8963297" y="2788146"/>
            <a:ext cx="2573273" cy="509687"/>
          </a:xfrm>
          <a:prstGeom prst="roundRect">
            <a:avLst>
              <a:gd name="adj" fmla="val 11499"/>
            </a:avLst>
          </a:prstGeom>
          <a:solidFill>
            <a:srgbClr val="E6DED2">
              <a:alpha val="50000"/>
            </a:srgbClr>
          </a:solidFill>
          <a:ln w="6350">
            <a:solidFill>
              <a:srgbClr val="CCC4B8"/>
            </a:solidFill>
            <a:prstDash val="solid"/>
          </a:ln>
          <a:effectLst>
            <a:outerShdw blurRad="127" dist="17780" dir="2700000" algn="bl" rotWithShape="0">
              <a:srgbClr val="CCC4B8">
                <a:alpha val="100000"/>
              </a:srgbClr>
            </a:outerShdw>
          </a:effectLst>
        </p:spPr>
      </p:sp>
      <p:sp>
        <p:nvSpPr>
          <p:cNvPr id="24" name="Text 17"/>
          <p:cNvSpPr/>
          <p:nvPr/>
        </p:nvSpPr>
        <p:spPr>
          <a:xfrm>
            <a:off x="9109145" y="2933998"/>
            <a:ext cx="2281577" cy="217984"/>
          </a:xfrm>
          <a:prstGeom prst="rect">
            <a:avLst/>
          </a:prstGeom>
          <a:noFill/>
          <a:ln/>
        </p:spPr>
        <p:txBody>
          <a:bodyPr wrap="none" lIns="0" tIns="0" rIns="0" bIns="0" rtlCol="0" anchor="t"/>
          <a:lstStyle/>
          <a:p>
            <a:pPr marL="0" indent="0" algn="l">
              <a:lnSpc>
                <a:spcPct val="104000"/>
              </a:lnSpc>
              <a:buNone/>
            </a:pPr>
            <a:r>
              <a:rPr lang="en-US" sz="1350" kern="0" spc="-27" dirty="0">
                <a:solidFill>
                  <a:srgbClr val="000000"/>
                </a:solidFill>
                <a:latin typeface="Noto Serif Medium" pitchFamily="34" charset="0"/>
                <a:ea typeface="Noto Serif Medium" pitchFamily="34" charset="-122"/>
                <a:cs typeface="Noto Serif Medium" pitchFamily="34" charset="-120"/>
              </a:rPr>
              <a:t>Environmental Monitoring</a:t>
            </a:r>
            <a:endParaRPr lang="en-US" sz="1350" dirty="0"/>
          </a:p>
        </p:txBody>
      </p:sp>
      <p:sp>
        <p:nvSpPr>
          <p:cNvPr id="25" name="Shape 18"/>
          <p:cNvSpPr/>
          <p:nvPr/>
        </p:nvSpPr>
        <p:spPr>
          <a:xfrm>
            <a:off x="6272353" y="3415506"/>
            <a:ext cx="5264217" cy="509687"/>
          </a:xfrm>
          <a:prstGeom prst="roundRect">
            <a:avLst>
              <a:gd name="adj" fmla="val 11499"/>
            </a:avLst>
          </a:prstGeom>
          <a:solidFill>
            <a:srgbClr val="E6DED2">
              <a:alpha val="50000"/>
            </a:srgbClr>
          </a:solidFill>
          <a:ln w="6350">
            <a:solidFill>
              <a:srgbClr val="CCC4B8"/>
            </a:solidFill>
            <a:prstDash val="solid"/>
          </a:ln>
          <a:effectLst>
            <a:outerShdw blurRad="127" dist="17780" dir="2700000" algn="bl" rotWithShape="0">
              <a:srgbClr val="CCC4B8">
                <a:alpha val="100000"/>
              </a:srgbClr>
            </a:outerShdw>
          </a:effectLst>
        </p:spPr>
      </p:sp>
      <p:sp>
        <p:nvSpPr>
          <p:cNvPr id="26" name="Text 19"/>
          <p:cNvSpPr/>
          <p:nvPr/>
        </p:nvSpPr>
        <p:spPr>
          <a:xfrm>
            <a:off x="6418201" y="3561358"/>
            <a:ext cx="4972521" cy="217984"/>
          </a:xfrm>
          <a:prstGeom prst="rect">
            <a:avLst/>
          </a:prstGeom>
          <a:noFill/>
          <a:ln/>
        </p:spPr>
        <p:txBody>
          <a:bodyPr wrap="none" lIns="0" tIns="0" rIns="0" bIns="0" rtlCol="0" anchor="t"/>
          <a:lstStyle/>
          <a:p>
            <a:pPr marL="0" indent="0" algn="l">
              <a:lnSpc>
                <a:spcPct val="104000"/>
              </a:lnSpc>
              <a:buNone/>
            </a:pPr>
            <a:r>
              <a:rPr lang="en-US" sz="1350" kern="0" spc="-27" dirty="0">
                <a:solidFill>
                  <a:srgbClr val="000000"/>
                </a:solidFill>
                <a:latin typeface="Noto Serif Medium" pitchFamily="34" charset="0"/>
                <a:ea typeface="Noto Serif Medium" pitchFamily="34" charset="-122"/>
                <a:cs typeface="Noto Serif Medium" pitchFamily="34" charset="-120"/>
              </a:rPr>
              <a:t>Manufacturing</a:t>
            </a:r>
            <a:endParaRPr lang="en-US" sz="1350" dirty="0"/>
          </a:p>
        </p:txBody>
      </p:sp>
      <p:sp>
        <p:nvSpPr>
          <p:cNvPr id="27" name="Text 20"/>
          <p:cNvSpPr/>
          <p:nvPr/>
        </p:nvSpPr>
        <p:spPr>
          <a:xfrm>
            <a:off x="6272353" y="4057650"/>
            <a:ext cx="5264217" cy="217984"/>
          </a:xfrm>
          <a:prstGeom prst="rect">
            <a:avLst/>
          </a:prstGeom>
          <a:noFill/>
          <a:ln/>
        </p:spPr>
        <p:txBody>
          <a:bodyPr wrap="none" lIns="0" tIns="0" rIns="0" bIns="0" rtlCol="0" anchor="t"/>
          <a:lstStyle/>
          <a:p>
            <a:pPr marL="0" indent="0" algn="l">
              <a:lnSpc>
                <a:spcPct val="104000"/>
              </a:lnSpc>
              <a:buNone/>
            </a:pPr>
            <a:r>
              <a:rPr lang="en-US" sz="1350" kern="0" spc="-27" dirty="0">
                <a:solidFill>
                  <a:srgbClr val="3A3A3A"/>
                </a:solidFill>
                <a:latin typeface="Noto Serif Medium" pitchFamily="34" charset="0"/>
                <a:ea typeface="Noto Serif Medium" pitchFamily="34" charset="-122"/>
                <a:cs typeface="Noto Serif Medium" pitchFamily="34" charset="-120"/>
              </a:rPr>
              <a:t>Overall Goal</a:t>
            </a:r>
            <a:endParaRPr lang="en-US" sz="1350" dirty="0"/>
          </a:p>
        </p:txBody>
      </p:sp>
      <p:sp>
        <p:nvSpPr>
          <p:cNvPr id="28" name="Text 21"/>
          <p:cNvSpPr/>
          <p:nvPr/>
        </p:nvSpPr>
        <p:spPr>
          <a:xfrm>
            <a:off x="6272353" y="4393307"/>
            <a:ext cx="5264217" cy="823516"/>
          </a:xfrm>
          <a:prstGeom prst="rect">
            <a:avLst/>
          </a:prstGeom>
          <a:noFill/>
          <a:ln/>
        </p:spPr>
        <p:txBody>
          <a:bodyPr wrap="square" lIns="0" tIns="0" rIns="0" bIns="0" rtlCol="0" anchor="t">
            <a:normAutofit/>
          </a:bodyPr>
          <a:lstStyle/>
          <a:p>
            <a:pPr marL="0" indent="0" algn="l">
              <a:lnSpc>
                <a:spcPct val="123000"/>
              </a:lnSpc>
              <a:buNone/>
            </a:pPr>
            <a:r>
              <a:rPr lang="en-US" sz="1050" dirty="0">
                <a:solidFill>
                  <a:srgbClr val="4C4C4C"/>
                </a:solidFill>
                <a:latin typeface="Noto Serif" pitchFamily="34" charset="0"/>
                <a:ea typeface="Noto Serif" pitchFamily="34" charset="-122"/>
                <a:cs typeface="Noto Serif" pitchFamily="34" charset="-120"/>
              </a:rPr>
              <a:t>Deliver a modern, secure, scalable, and intelligent IoT monitoring solution that enables organizations to </a:t>
            </a:r>
            <a:r>
              <a:rPr lang="en-US" sz="1050" b="1" dirty="0">
                <a:solidFill>
                  <a:srgbClr val="4C4C4C"/>
                </a:solidFill>
                <a:latin typeface="Noto Serif Bold" pitchFamily="34" charset="0"/>
                <a:ea typeface="Noto Serif Bold" pitchFamily="34" charset="-122"/>
                <a:cs typeface="Noto Serif Bold" pitchFamily="34" charset="-120"/>
              </a:rPr>
              <a:t>detect unusual sensor behavior</a:t>
            </a:r>
            <a:r>
              <a:rPr lang="en-US" sz="1050" dirty="0">
                <a:solidFill>
                  <a:srgbClr val="4C4C4C"/>
                </a:solidFill>
                <a:latin typeface="Noto Serif" pitchFamily="34" charset="0"/>
                <a:ea typeface="Noto Serif" pitchFamily="34" charset="-122"/>
                <a:cs typeface="Noto Serif" pitchFamily="34" charset="-120"/>
              </a:rPr>
              <a:t>, investigate potential faults, improve system reliability, and support proactive maintenance across diverse application domains.</a:t>
            </a:r>
            <a:endParaRPr lang="en-US" sz="1050" dirty="0"/>
          </a:p>
        </p:txBody>
      </p:sp>
      <p:sp>
        <p:nvSpPr>
          <p:cNvPr id="29" name="Shape 22"/>
          <p:cNvSpPr/>
          <p:nvPr/>
        </p:nvSpPr>
        <p:spPr>
          <a:xfrm>
            <a:off x="6272353" y="5349280"/>
            <a:ext cx="5264217" cy="899220"/>
          </a:xfrm>
          <a:prstGeom prst="roundRect">
            <a:avLst>
              <a:gd name="adj" fmla="val 6518"/>
            </a:avLst>
          </a:prstGeom>
          <a:solidFill>
            <a:srgbClr val="E8E6E3"/>
          </a:solidFill>
          <a:ln/>
        </p:spPr>
      </p:sp>
      <p:pic>
        <p:nvPicPr>
          <p:cNvPr id="30" name="Image 5" descr="preencoded.png"/>
          <p:cNvPicPr>
            <a:picLocks noChangeAspect="1"/>
          </p:cNvPicPr>
          <p:nvPr/>
        </p:nvPicPr>
        <p:blipFill>
          <a:blip r:embed="rId4"/>
          <a:stretch>
            <a:fillRect/>
          </a:stretch>
        </p:blipFill>
        <p:spPr>
          <a:xfrm>
            <a:off x="6411851" y="5532041"/>
            <a:ext cx="174422" cy="139502"/>
          </a:xfrm>
          <a:prstGeom prst="rect">
            <a:avLst/>
          </a:prstGeom>
        </p:spPr>
      </p:pic>
      <p:sp>
        <p:nvSpPr>
          <p:cNvPr id="31" name="Text 23"/>
          <p:cNvSpPr/>
          <p:nvPr/>
        </p:nvSpPr>
        <p:spPr>
          <a:xfrm>
            <a:off x="6725772" y="5490071"/>
            <a:ext cx="4671300" cy="617637"/>
          </a:xfrm>
          <a:prstGeom prst="rect">
            <a:avLst/>
          </a:prstGeom>
          <a:noFill/>
          <a:ln/>
        </p:spPr>
        <p:txBody>
          <a:bodyPr wrap="square" lIns="0" tIns="0" rIns="0" bIns="0" rtlCol="0" anchor="t">
            <a:normAutofit/>
          </a:bodyPr>
          <a:lstStyle/>
          <a:p>
            <a:pPr marL="0" indent="0" algn="l">
              <a:lnSpc>
                <a:spcPct val="123000"/>
              </a:lnSpc>
              <a:buNone/>
            </a:pPr>
            <a:r>
              <a:rPr lang="en-US" sz="1050" dirty="0">
                <a:solidFill>
                  <a:srgbClr val="000000"/>
                </a:solidFill>
                <a:latin typeface="Noto Serif" pitchFamily="34" charset="0"/>
                <a:ea typeface="Noto Serif" pitchFamily="34" charset="-122"/>
                <a:cs typeface="Noto Serif" pitchFamily="34" charset="-120"/>
              </a:rPr>
              <a:t>All outcomes described are expected results of the proposed system design. Specific performance metrics are subject to empirical evaluation during implementation and testing.</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1670</Words>
  <Application>Microsoft Macintosh PowerPoint</Application>
  <PresentationFormat>Widescreen</PresentationFormat>
  <Paragraphs>182</Paragraphs>
  <Slides>10</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Times New Roman</vt:lpstr>
      <vt:lpstr>Noto Serif Bold</vt:lpstr>
      <vt:lpstr>Noto Serif Light</vt:lpstr>
      <vt:lpstr>Arial</vt:lpstr>
      <vt:lpstr>Noto Serif Medium</vt:lpstr>
      <vt:lpstr>Noto Serif</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Lalam githa vamsiram</cp:lastModifiedBy>
  <cp:revision>5</cp:revision>
  <dcterms:created xsi:type="dcterms:W3CDTF">2026-08-19T06:51:59Z</dcterms:created>
  <dcterms:modified xsi:type="dcterms:W3CDTF">2026-08-31T09:16:32Z</dcterms:modified>
</cp:coreProperties>
</file>